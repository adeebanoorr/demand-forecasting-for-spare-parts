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195" autoAdjust="0"/>
  </p:normalViewPr>
  <p:slideViewPr>
    <p:cSldViewPr snapToGrid="0">
      <p:cViewPr>
        <p:scale>
          <a:sx n="110" d="100"/>
          <a:sy n="110" d="100"/>
        </p:scale>
        <p:origin x="7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DFEC2-8BF9-41CE-A848-226930892C50}" type="datetimeFigureOut">
              <a:rPr lang="en-IN" smtClean="0"/>
              <a:t>08-04-2026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D72B6-F666-482A-AC85-DD93486EB9A2}" type="slidenum">
              <a:rPr lang="en-IN" smtClean="0"/>
              <a:t>‹#›</a:t>
            </a:fld>
            <a:endParaRPr lang="en-IN"/>
          </a:p>
        </p:txBody>
      </p:sp>
    </p:spTree>
    <p:extLst>
      <p:ext uri="{BB962C8B-B14F-4D97-AF65-F5344CB8AC3E}">
        <p14:creationId xmlns:p14="http://schemas.microsoft.com/office/powerpoint/2010/main" val="1199002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CCCCCC"/>
                </a:solidFill>
                <a:effectLst/>
                <a:latin typeface="Segoe WPC"/>
              </a:rPr>
              <a:t>ASM- is the structural "brain" of your chatbot. It is the framework that allows the AI to move through different steps of a task, making decisions at each stage until it arrives at the final answer.</a:t>
            </a:r>
            <a:endParaRPr lang="en-IN" dirty="0"/>
          </a:p>
        </p:txBody>
      </p:sp>
      <p:sp>
        <p:nvSpPr>
          <p:cNvPr id="4" name="Slide Number Placeholder 3"/>
          <p:cNvSpPr>
            <a:spLocks noGrp="1"/>
          </p:cNvSpPr>
          <p:nvPr>
            <p:ph type="sldNum" sz="quarter" idx="5"/>
          </p:nvPr>
        </p:nvSpPr>
        <p:spPr/>
        <p:txBody>
          <a:bodyPr/>
          <a:lstStyle/>
          <a:p>
            <a:fld id="{57DD72B6-F666-482A-AC85-DD93486EB9A2}" type="slidenum">
              <a:rPr lang="en-IN" smtClean="0"/>
              <a:t>2</a:t>
            </a:fld>
            <a:endParaRPr lang="en-IN"/>
          </a:p>
        </p:txBody>
      </p:sp>
    </p:spTree>
    <p:extLst>
      <p:ext uri="{BB962C8B-B14F-4D97-AF65-F5344CB8AC3E}">
        <p14:creationId xmlns:p14="http://schemas.microsoft.com/office/powerpoint/2010/main" val="1933328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2019-3DCE-BA06-5E29-BEBBEF0869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CECC45-2DDC-5CE1-51D6-6E940E4DF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FD85F9-1343-B5E8-5F12-167E6F58BBBF}"/>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5" name="Footer Placeholder 4">
            <a:extLst>
              <a:ext uri="{FF2B5EF4-FFF2-40B4-BE49-F238E27FC236}">
                <a16:creationId xmlns:a16="http://schemas.microsoft.com/office/drawing/2014/main" id="{9A8E2CFA-F5DA-0B90-797A-0D6D2DD187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B16184-EE0D-0B0E-A106-B92D0547BB5D}"/>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541446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9A95-5FE8-AD47-000D-446614832B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FB6E16-A6E3-5CE1-EB05-9FA4593534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A35ABA-5BFD-7E1D-20E0-93719795FE52}"/>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5" name="Footer Placeholder 4">
            <a:extLst>
              <a:ext uri="{FF2B5EF4-FFF2-40B4-BE49-F238E27FC236}">
                <a16:creationId xmlns:a16="http://schemas.microsoft.com/office/drawing/2014/main" id="{B8EB2086-031D-BB67-61A0-06CA866FE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BE273E-30DA-96A5-841D-D1022E811125}"/>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1248714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448AF-5DBB-ED37-38E0-06D0651D8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165330-8305-A69D-B276-69E518B79F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BC66F2-EDAB-968D-F96E-0C24CEA0FEFC}"/>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5" name="Footer Placeholder 4">
            <a:extLst>
              <a:ext uri="{FF2B5EF4-FFF2-40B4-BE49-F238E27FC236}">
                <a16:creationId xmlns:a16="http://schemas.microsoft.com/office/drawing/2014/main" id="{35E36429-493E-6E53-7878-890060A702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873629-E10D-A5DD-F90C-52A5C546FFC0}"/>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1323334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F762-2D23-C988-5A2C-326A20FFEE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2DC285-3201-F8F7-B509-B5B63C4825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BD1434-EF1E-926C-1FEF-6C08030F6F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FC9DFD-D14F-57C4-50A5-72FFA6E70478}"/>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6" name="Footer Placeholder 5">
            <a:extLst>
              <a:ext uri="{FF2B5EF4-FFF2-40B4-BE49-F238E27FC236}">
                <a16:creationId xmlns:a16="http://schemas.microsoft.com/office/drawing/2014/main" id="{0CAD9FBF-2F11-4A98-1AC7-48499BF02E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B0BA8B-9159-CF15-5A71-BE9320EBB576}"/>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2045925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91B2-3170-435F-B17F-933F3783D6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AD156E-0984-FEB2-9759-997C0E2BE1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249AC-2695-E2DD-0A0D-16E0E16E83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9C2635B-825F-E832-3332-136884F402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8FEBEA-9EE4-68E2-6789-974E68A7E0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66CB10-8C20-C396-3952-3F41B2A6D27D}"/>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8" name="Footer Placeholder 7">
            <a:extLst>
              <a:ext uri="{FF2B5EF4-FFF2-40B4-BE49-F238E27FC236}">
                <a16:creationId xmlns:a16="http://schemas.microsoft.com/office/drawing/2014/main" id="{D281B919-5784-C5F2-5E13-B555BF71FE2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BA26BA-21AC-99D0-1D26-FFDE9375A651}"/>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550170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958AF-28CF-6ABE-D5FB-C7F7576D6F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E1D6A4E-2650-2084-0BD6-C3D229B083CF}"/>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4" name="Footer Placeholder 3">
            <a:extLst>
              <a:ext uri="{FF2B5EF4-FFF2-40B4-BE49-F238E27FC236}">
                <a16:creationId xmlns:a16="http://schemas.microsoft.com/office/drawing/2014/main" id="{C74D5455-01CC-1133-3DB8-65FB5DB441F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C0B7AC-82EE-47D4-40BC-ED1A2A7257CB}"/>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2305617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9A8F8-6647-FFE5-3BBF-886AB3D1F293}"/>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3" name="Footer Placeholder 2">
            <a:extLst>
              <a:ext uri="{FF2B5EF4-FFF2-40B4-BE49-F238E27FC236}">
                <a16:creationId xmlns:a16="http://schemas.microsoft.com/office/drawing/2014/main" id="{27CAEA95-FEE5-7FE4-1D87-6FC0234A0C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A28222-256D-AB40-1959-5A6BF4E84700}"/>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4292958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9105-AEAA-59E9-EC3D-6379E45E2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A1E0C3-7ECF-434D-D289-8B3AF724F4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1E2619-6872-8425-74DB-27A44F6C84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25574C-4407-AF8B-934C-DAAD8EA533F2}"/>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6" name="Footer Placeholder 5">
            <a:extLst>
              <a:ext uri="{FF2B5EF4-FFF2-40B4-BE49-F238E27FC236}">
                <a16:creationId xmlns:a16="http://schemas.microsoft.com/office/drawing/2014/main" id="{718ED1B4-07EB-23BB-E938-8B6FE61972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82EFDC-6EB1-AAFA-447F-F8F06B1817F3}"/>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897774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9A40-321E-76A9-F9EB-9AB23645EB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41C76A-07CF-C79C-7E7A-86C5603738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2180D45-7636-1CCD-B8DF-87FC202F2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31491E-A59D-657C-B8DA-C08F71ADBDFF}"/>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6" name="Footer Placeholder 5">
            <a:extLst>
              <a:ext uri="{FF2B5EF4-FFF2-40B4-BE49-F238E27FC236}">
                <a16:creationId xmlns:a16="http://schemas.microsoft.com/office/drawing/2014/main" id="{0C31D080-56BA-B6C9-66A0-FE31E7D148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C7F45D-204D-0EB1-62B8-6164A7D33EFA}"/>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278474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0ED3-0FD1-1B78-1D6E-792060CB74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0FC432-EC6B-9008-0CDD-09DCF12483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436F3E-A8C9-D3EF-A6B9-08A595DA5D9A}"/>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5" name="Footer Placeholder 4">
            <a:extLst>
              <a:ext uri="{FF2B5EF4-FFF2-40B4-BE49-F238E27FC236}">
                <a16:creationId xmlns:a16="http://schemas.microsoft.com/office/drawing/2014/main" id="{B7D1813F-AA77-4781-40E7-59A31D2F93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CFE58B-B817-7FF1-CC40-0FF203737869}"/>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2786467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2B0804-3083-BBDC-30C1-7F6846A21F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2E69C6-BAD7-F604-C3F8-6ADA2E6C48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02C56B-8475-2938-823F-845B990E625B}"/>
              </a:ext>
            </a:extLst>
          </p:cNvPr>
          <p:cNvSpPr>
            <a:spLocks noGrp="1"/>
          </p:cNvSpPr>
          <p:nvPr>
            <p:ph type="dt" sz="half" idx="10"/>
          </p:nvPr>
        </p:nvSpPr>
        <p:spPr/>
        <p:txBody>
          <a:bodyPr/>
          <a:lstStyle/>
          <a:p>
            <a:fld id="{D02C5C96-F11C-4421-8C89-5AD1BED137B5}" type="datetimeFigureOut">
              <a:rPr lang="en-IN" smtClean="0"/>
              <a:t>08-04-2026</a:t>
            </a:fld>
            <a:endParaRPr lang="en-IN"/>
          </a:p>
        </p:txBody>
      </p:sp>
      <p:sp>
        <p:nvSpPr>
          <p:cNvPr id="5" name="Footer Placeholder 4">
            <a:extLst>
              <a:ext uri="{FF2B5EF4-FFF2-40B4-BE49-F238E27FC236}">
                <a16:creationId xmlns:a16="http://schemas.microsoft.com/office/drawing/2014/main" id="{5E85AFA1-8F4B-9218-CF79-9D8F360AA4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208B36-C3FE-2715-9EFF-9B6F9612944F}"/>
              </a:ext>
            </a:extLst>
          </p:cNvPr>
          <p:cNvSpPr>
            <a:spLocks noGrp="1"/>
          </p:cNvSpPr>
          <p:nvPr>
            <p:ph type="sldNum" sz="quarter" idx="12"/>
          </p:nvPr>
        </p:nvSpPr>
        <p:spPr/>
        <p:txBody>
          <a:bodyPr/>
          <a:lstStyle/>
          <a:p>
            <a:fld id="{004FBA72-0606-4818-9C77-EB492D1DE56F}" type="slidenum">
              <a:rPr lang="en-IN" smtClean="0"/>
              <a:t>‹#›</a:t>
            </a:fld>
            <a:endParaRPr lang="en-IN"/>
          </a:p>
        </p:txBody>
      </p:sp>
    </p:spTree>
    <p:extLst>
      <p:ext uri="{BB962C8B-B14F-4D97-AF65-F5344CB8AC3E}">
        <p14:creationId xmlns:p14="http://schemas.microsoft.com/office/powerpoint/2010/main" val="1787542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09112-88C4-3774-904D-3618DFC42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B728D3-F047-6ADB-865C-ED8328F077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7BC097-29B1-7CF2-C1B2-6980009B4F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2C5C96-F11C-4421-8C89-5AD1BED137B5}" type="datetimeFigureOut">
              <a:rPr lang="en-IN" smtClean="0"/>
              <a:t>08-04-2026</a:t>
            </a:fld>
            <a:endParaRPr lang="en-IN"/>
          </a:p>
        </p:txBody>
      </p:sp>
      <p:sp>
        <p:nvSpPr>
          <p:cNvPr id="5" name="Footer Placeholder 4">
            <a:extLst>
              <a:ext uri="{FF2B5EF4-FFF2-40B4-BE49-F238E27FC236}">
                <a16:creationId xmlns:a16="http://schemas.microsoft.com/office/drawing/2014/main" id="{5B23F7E0-28F8-9F71-FC30-07933E501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578FAA0-1962-BD90-E916-B5F8750F3C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4FBA72-0606-4818-9C77-EB492D1DE56F}" type="slidenum">
              <a:rPr lang="en-IN" smtClean="0"/>
              <a:t>‹#›</a:t>
            </a:fld>
            <a:endParaRPr lang="en-IN"/>
          </a:p>
        </p:txBody>
      </p:sp>
    </p:spTree>
    <p:extLst>
      <p:ext uri="{BB962C8B-B14F-4D97-AF65-F5344CB8AC3E}">
        <p14:creationId xmlns:p14="http://schemas.microsoft.com/office/powerpoint/2010/main" val="1432330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20">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22">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40" name="Rectangle 24">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06DBA2-5822-82A4-E86F-B98A3BF31DF5}"/>
              </a:ext>
            </a:extLst>
          </p:cNvPr>
          <p:cNvSpPr txBox="1"/>
          <p:nvPr/>
        </p:nvSpPr>
        <p:spPr>
          <a:xfrm>
            <a:off x="3371787" y="1741337"/>
            <a:ext cx="5448730" cy="238791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200" b="1" kern="1200" dirty="0">
                <a:solidFill>
                  <a:schemeClr val="tx2"/>
                </a:solidFill>
                <a:effectLst/>
                <a:latin typeface="+mj-lt"/>
                <a:ea typeface="+mj-ea"/>
                <a:cs typeface="+mj-cs"/>
              </a:rPr>
              <a:t>Chatbot Backend</a:t>
            </a:r>
            <a:endParaRPr lang="en-US" sz="5200" b="1" kern="1200" dirty="0">
              <a:solidFill>
                <a:schemeClr val="tx2"/>
              </a:solidFill>
              <a:latin typeface="+mj-lt"/>
              <a:ea typeface="+mj-ea"/>
              <a:cs typeface="+mj-cs"/>
            </a:endParaRPr>
          </a:p>
        </p:txBody>
      </p:sp>
      <p:grpSp>
        <p:nvGrpSpPr>
          <p:cNvPr id="41" name="Group 26">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42" name="Freeform: Shape 27">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28">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29">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30">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34" name="Freeform: Shape 33">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205091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875201-AED0-E3C8-DDF8-F3CE29F08878}"/>
              </a:ext>
            </a:extLst>
          </p:cNvPr>
          <p:cNvSpPr txBox="1"/>
          <p:nvPr/>
        </p:nvSpPr>
        <p:spPr>
          <a:xfrm>
            <a:off x="1371599" y="294538"/>
            <a:ext cx="9895951" cy="10336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effectLst/>
                <a:latin typeface="+mj-lt"/>
                <a:ea typeface="+mj-ea"/>
                <a:cs typeface="+mj-cs"/>
              </a:rPr>
              <a:t>1. Context Management &amp; Persistent Memory</a:t>
            </a:r>
            <a:endParaRPr lang="en-US" sz="4000" b="1" i="0" kern="1200">
              <a:solidFill>
                <a:srgbClr val="FFFFFF"/>
              </a:solidFill>
              <a:effectLst/>
              <a:latin typeface="+mj-lt"/>
              <a:ea typeface="+mj-ea"/>
              <a:cs typeface="+mj-cs"/>
            </a:endParaRPr>
          </a:p>
        </p:txBody>
      </p:sp>
      <p:sp>
        <p:nvSpPr>
          <p:cNvPr id="5" name="TextBox 4">
            <a:extLst>
              <a:ext uri="{FF2B5EF4-FFF2-40B4-BE49-F238E27FC236}">
                <a16:creationId xmlns:a16="http://schemas.microsoft.com/office/drawing/2014/main" id="{C9B0DDA5-E7D6-E5F1-5524-C4BA7DD21A8B}"/>
              </a:ext>
            </a:extLst>
          </p:cNvPr>
          <p:cNvSpPr txBox="1"/>
          <p:nvPr/>
        </p:nvSpPr>
        <p:spPr>
          <a:xfrm>
            <a:off x="333049" y="1835980"/>
            <a:ext cx="4088675" cy="4770087"/>
          </a:xfrm>
          <a:prstGeom prst="rect">
            <a:avLst/>
          </a:prstGeom>
        </p:spPr>
        <p:txBody>
          <a:bodyPr vert="horz" lIns="91440" tIns="45720" rIns="91440" bIns="45720" rtlCol="0" anchor="ctr">
            <a:normAutofit lnSpcReduction="10000"/>
          </a:bodyPr>
          <a:lstStyle/>
          <a:p>
            <a:pPr algn="just">
              <a:lnSpc>
                <a:spcPct val="90000"/>
              </a:lnSpc>
              <a:spcAft>
                <a:spcPts val="600"/>
              </a:spcAft>
            </a:pPr>
            <a:r>
              <a:rPr lang="en-US" sz="1400" i="1" dirty="0">
                <a:effectLst/>
              </a:rPr>
              <a:t>How the system maintains state and optimizes the LLM context window.</a:t>
            </a:r>
          </a:p>
          <a:p>
            <a:pPr indent="-228600" algn="just">
              <a:lnSpc>
                <a:spcPct val="90000"/>
              </a:lnSpc>
              <a:spcAft>
                <a:spcPts val="600"/>
              </a:spcAft>
              <a:buFont typeface="Arial" panose="020B0604020202020204" pitchFamily="34" charset="0"/>
              <a:buChar char="•"/>
            </a:pPr>
            <a:endParaRPr lang="en-US" sz="1400" i="0" dirty="0">
              <a:effectLst/>
            </a:endParaRPr>
          </a:p>
          <a:p>
            <a:pPr algn="just">
              <a:lnSpc>
                <a:spcPct val="90000"/>
              </a:lnSpc>
              <a:spcAft>
                <a:spcPts val="600"/>
              </a:spcAft>
            </a:pPr>
            <a:r>
              <a:rPr lang="en-US" sz="1400" b="1" i="0" dirty="0">
                <a:effectLst/>
              </a:rPr>
              <a:t>Technical Explanation: </a:t>
            </a:r>
          </a:p>
          <a:p>
            <a:pPr algn="just">
              <a:lnSpc>
                <a:spcPct val="90000"/>
              </a:lnSpc>
              <a:spcAft>
                <a:spcPts val="600"/>
              </a:spcAft>
            </a:pPr>
            <a:r>
              <a:rPr lang="en-US" sz="1400" i="0" dirty="0">
                <a:effectLst/>
              </a:rPr>
              <a:t>The system utilizes an </a:t>
            </a:r>
            <a:r>
              <a:rPr lang="en-US" sz="1400" b="1" i="0" dirty="0">
                <a:effectLst/>
              </a:rPr>
              <a:t>Agentic State Machine </a:t>
            </a:r>
            <a:r>
              <a:rPr lang="en-US" sz="1400" i="0" dirty="0">
                <a:effectLst/>
              </a:rPr>
              <a:t>to manage conversation history. It implements a </a:t>
            </a:r>
            <a:r>
              <a:rPr lang="en-US" sz="1400" b="1" i="0" dirty="0">
                <a:effectLst/>
              </a:rPr>
              <a:t>Stateful</a:t>
            </a:r>
            <a:r>
              <a:rPr lang="en-US" sz="1400" i="0" dirty="0">
                <a:effectLst/>
              </a:rPr>
              <a:t> </a:t>
            </a:r>
            <a:r>
              <a:rPr lang="en-US" sz="1400" b="1" i="0" dirty="0">
                <a:effectLst/>
              </a:rPr>
              <a:t>SQLite Checkpointer </a:t>
            </a:r>
            <a:r>
              <a:rPr lang="en-US" sz="1400" i="0" dirty="0">
                <a:effectLst/>
              </a:rPr>
              <a:t>that serializes the conversation state (messages, filters, and metadata) to a local database. </a:t>
            </a:r>
          </a:p>
          <a:p>
            <a:pPr algn="just">
              <a:lnSpc>
                <a:spcPct val="90000"/>
              </a:lnSpc>
              <a:spcAft>
                <a:spcPts val="600"/>
              </a:spcAft>
            </a:pPr>
            <a:r>
              <a:rPr lang="en-US" sz="1400" i="0" dirty="0">
                <a:effectLst/>
              </a:rPr>
              <a:t>To handle the "</a:t>
            </a:r>
            <a:r>
              <a:rPr lang="en-US" sz="1400" b="1" i="0" dirty="0">
                <a:effectLst/>
              </a:rPr>
              <a:t>Context Window</a:t>
            </a:r>
            <a:r>
              <a:rPr lang="en-US" sz="1400" i="0" dirty="0">
                <a:effectLst/>
              </a:rPr>
              <a:t>" limit, we use a Cyclical </a:t>
            </a:r>
            <a:r>
              <a:rPr lang="en-US" sz="1400" b="1" i="0" dirty="0">
                <a:effectLst/>
              </a:rPr>
              <a:t>Summarization &amp; Trimming </a:t>
            </a:r>
            <a:r>
              <a:rPr lang="en-US" sz="1400" i="0" dirty="0">
                <a:effectLst/>
              </a:rPr>
              <a:t>strategy. This process automatically identifies the oldest messages in the stack once a threshold is met, passes them through a rolling summarization engine, and replaces them with a single dense summary.</a:t>
            </a:r>
          </a:p>
          <a:p>
            <a:pPr indent="-228600" algn="just">
              <a:lnSpc>
                <a:spcPct val="90000"/>
              </a:lnSpc>
              <a:spcAft>
                <a:spcPts val="600"/>
              </a:spcAft>
              <a:buFont typeface="Arial" panose="020B0604020202020204" pitchFamily="34" charset="0"/>
              <a:buChar char="•"/>
            </a:pPr>
            <a:endParaRPr lang="en-US" sz="1400" i="0" dirty="0">
              <a:effectLst/>
            </a:endParaRPr>
          </a:p>
          <a:p>
            <a:pPr algn="just">
              <a:lnSpc>
                <a:spcPct val="90000"/>
              </a:lnSpc>
              <a:spcAft>
                <a:spcPts val="600"/>
              </a:spcAft>
            </a:pPr>
            <a:r>
              <a:rPr lang="en-US" sz="1400" b="1" i="0" dirty="0">
                <a:effectLst/>
              </a:rPr>
              <a:t>Simple Explanation: </a:t>
            </a:r>
          </a:p>
          <a:p>
            <a:pPr algn="just">
              <a:lnSpc>
                <a:spcPct val="90000"/>
              </a:lnSpc>
              <a:spcAft>
                <a:spcPts val="600"/>
              </a:spcAft>
            </a:pPr>
            <a:r>
              <a:rPr lang="en-US" sz="1400" i="0" dirty="0">
                <a:effectLst/>
              </a:rPr>
              <a:t>Think of this as the bot's "Digital Notebook." It saves every conversation to a high-speed file, so it never forgets what you said yesterday. When the notebook gets too full, the bot summarizes the first few pages into one short paragraph and tears out the old pages to stay fast and focused, while still "remembering" the important details.</a:t>
            </a:r>
          </a:p>
        </p:txBody>
      </p:sp>
      <p:pic>
        <p:nvPicPr>
          <p:cNvPr id="13" name="Picture 12">
            <a:extLst>
              <a:ext uri="{FF2B5EF4-FFF2-40B4-BE49-F238E27FC236}">
                <a16:creationId xmlns:a16="http://schemas.microsoft.com/office/drawing/2014/main" id="{DEE7FFFA-01DE-423B-BC4E-A66C9312FE03}"/>
              </a:ext>
            </a:extLst>
          </p:cNvPr>
          <p:cNvPicPr>
            <a:picLocks noChangeAspect="1"/>
          </p:cNvPicPr>
          <p:nvPr/>
        </p:nvPicPr>
        <p:blipFill rotWithShape="1">
          <a:blip r:embed="rId3"/>
          <a:srcRect l="2401" r="3220"/>
          <a:stretch/>
        </p:blipFill>
        <p:spPr>
          <a:xfrm>
            <a:off x="4421724" y="2177142"/>
            <a:ext cx="7132377" cy="3718560"/>
          </a:xfrm>
          <a:prstGeom prst="rect">
            <a:avLst/>
          </a:prstGeom>
        </p:spPr>
      </p:pic>
    </p:spTree>
    <p:extLst>
      <p:ext uri="{BB962C8B-B14F-4D97-AF65-F5344CB8AC3E}">
        <p14:creationId xmlns:p14="http://schemas.microsoft.com/office/powerpoint/2010/main" val="4214929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875201-AED0-E3C8-DDF8-F3CE29F08878}"/>
              </a:ext>
            </a:extLst>
          </p:cNvPr>
          <p:cNvSpPr txBox="1"/>
          <p:nvPr/>
        </p:nvSpPr>
        <p:spPr>
          <a:xfrm>
            <a:off x="1371599" y="294538"/>
            <a:ext cx="9895951" cy="10336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effectLst/>
                <a:latin typeface="+mj-lt"/>
                <a:ea typeface="+mj-ea"/>
                <a:cs typeface="+mj-cs"/>
              </a:rPr>
              <a:t>2. Computational Guardrails &amp; Safety</a:t>
            </a:r>
            <a:endParaRPr lang="en-US" sz="4000" b="1" i="0" kern="1200">
              <a:solidFill>
                <a:srgbClr val="FFFFFF"/>
              </a:solidFill>
              <a:effectLst/>
              <a:latin typeface="+mj-lt"/>
              <a:ea typeface="+mj-ea"/>
              <a:cs typeface="+mj-cs"/>
            </a:endParaRPr>
          </a:p>
        </p:txBody>
      </p:sp>
      <p:sp>
        <p:nvSpPr>
          <p:cNvPr id="4" name="TextBox 3">
            <a:extLst>
              <a:ext uri="{FF2B5EF4-FFF2-40B4-BE49-F238E27FC236}">
                <a16:creationId xmlns:a16="http://schemas.microsoft.com/office/drawing/2014/main" id="{46205F47-B03F-20AE-C1C2-2BD1E0D43A04}"/>
              </a:ext>
            </a:extLst>
          </p:cNvPr>
          <p:cNvSpPr txBox="1"/>
          <p:nvPr/>
        </p:nvSpPr>
        <p:spPr>
          <a:xfrm>
            <a:off x="291737" y="1760848"/>
            <a:ext cx="4376058" cy="4802614"/>
          </a:xfrm>
          <a:prstGeom prst="rect">
            <a:avLst/>
          </a:prstGeom>
        </p:spPr>
        <p:txBody>
          <a:bodyPr vert="horz" lIns="91440" tIns="45720" rIns="91440" bIns="45720" rtlCol="0" anchor="ctr">
            <a:normAutofit lnSpcReduction="10000"/>
          </a:bodyPr>
          <a:lstStyle/>
          <a:p>
            <a:pPr algn="just">
              <a:lnSpc>
                <a:spcPct val="90000"/>
              </a:lnSpc>
              <a:spcAft>
                <a:spcPts val="600"/>
              </a:spcAft>
            </a:pPr>
            <a:r>
              <a:rPr lang="en-US" sz="1400" b="0" i="1" dirty="0">
                <a:effectLst/>
              </a:rPr>
              <a:t>Ensuring data integrity and output reliability through structural enforcement.</a:t>
            </a:r>
          </a:p>
          <a:p>
            <a:pPr indent="-228600" algn="just">
              <a:lnSpc>
                <a:spcPct val="90000"/>
              </a:lnSpc>
              <a:spcAft>
                <a:spcPts val="600"/>
              </a:spcAft>
              <a:buFont typeface="Arial" panose="020B0604020202020204" pitchFamily="34" charset="0"/>
              <a:buChar char="•"/>
            </a:pPr>
            <a:endParaRPr lang="en-US" sz="1400" b="0" i="0" dirty="0">
              <a:effectLst/>
            </a:endParaRPr>
          </a:p>
          <a:p>
            <a:pPr algn="just">
              <a:lnSpc>
                <a:spcPct val="90000"/>
              </a:lnSpc>
              <a:spcAft>
                <a:spcPts val="600"/>
              </a:spcAft>
            </a:pPr>
            <a:r>
              <a:rPr lang="en-US" sz="1400" b="1" i="0" dirty="0">
                <a:effectLst/>
              </a:rPr>
              <a:t>Technical Explanation:</a:t>
            </a:r>
            <a:r>
              <a:rPr lang="en-US" sz="1400" b="0" i="0" dirty="0">
                <a:effectLst/>
              </a:rPr>
              <a:t> </a:t>
            </a:r>
          </a:p>
          <a:p>
            <a:pPr algn="just">
              <a:lnSpc>
                <a:spcPct val="90000"/>
              </a:lnSpc>
              <a:spcAft>
                <a:spcPts val="600"/>
              </a:spcAft>
            </a:pPr>
            <a:r>
              <a:rPr lang="en-US" sz="1400" b="0" i="0" dirty="0">
                <a:effectLst/>
              </a:rPr>
              <a:t>Safety is enforced through </a:t>
            </a:r>
            <a:r>
              <a:rPr lang="en-US" sz="1400" b="1" i="0" dirty="0">
                <a:effectLst/>
              </a:rPr>
              <a:t>Strict Pydantic Schema Validation</a:t>
            </a:r>
            <a:r>
              <a:rPr lang="en-US" sz="1400" b="0" i="0" dirty="0">
                <a:effectLst/>
              </a:rPr>
              <a:t> and </a:t>
            </a:r>
            <a:r>
              <a:rPr lang="en-US" sz="1400" b="1" i="0" dirty="0">
                <a:effectLst/>
              </a:rPr>
              <a:t>Runtime Sandboxing</a:t>
            </a:r>
            <a:r>
              <a:rPr lang="en-US" sz="1400" b="0" i="0" dirty="0">
                <a:effectLst/>
              </a:rPr>
              <a:t>. Every output from the AI is intercepted and parsed against a rigid JSON schema. If the output fails validation (hallucinations or formatting errors), the system triggers a </a:t>
            </a:r>
            <a:r>
              <a:rPr lang="en-US" sz="1400" b="1" i="0" dirty="0">
                <a:effectLst/>
              </a:rPr>
              <a:t>Self-Correction Retry Loop</a:t>
            </a:r>
            <a:r>
              <a:rPr lang="en-US" sz="1400" b="0" i="0" dirty="0">
                <a:effectLst/>
              </a:rPr>
              <a:t>, feeding the error back to the model for iterative refinement. </a:t>
            </a:r>
          </a:p>
          <a:p>
            <a:pPr algn="just">
              <a:lnSpc>
                <a:spcPct val="90000"/>
              </a:lnSpc>
              <a:spcAft>
                <a:spcPts val="600"/>
              </a:spcAft>
            </a:pPr>
            <a:r>
              <a:rPr lang="en-US" sz="1400" b="0" i="0" dirty="0">
                <a:effectLst/>
              </a:rPr>
              <a:t>Furthermore, the execution of generated logic occurs in a </a:t>
            </a:r>
            <a:r>
              <a:rPr lang="en-US" sz="1400" b="1" i="0" dirty="0">
                <a:effectLst/>
              </a:rPr>
              <a:t>Restricted Global/Local Namespace</a:t>
            </a:r>
            <a:r>
              <a:rPr lang="en-US" sz="1400" b="0" i="0" dirty="0">
                <a:effectLst/>
              </a:rPr>
              <a:t>, where dangerous system-level built-ins are explicitly disabled to prevent unauthorized system access or data mutation.</a:t>
            </a:r>
          </a:p>
          <a:p>
            <a:pPr indent="-228600" algn="just">
              <a:lnSpc>
                <a:spcPct val="90000"/>
              </a:lnSpc>
              <a:spcAft>
                <a:spcPts val="600"/>
              </a:spcAft>
              <a:buFont typeface="Arial" panose="020B0604020202020204" pitchFamily="34" charset="0"/>
              <a:buChar char="•"/>
            </a:pPr>
            <a:endParaRPr lang="en-US" sz="1400" b="0" i="0" dirty="0">
              <a:effectLst/>
            </a:endParaRPr>
          </a:p>
          <a:p>
            <a:pPr algn="just">
              <a:lnSpc>
                <a:spcPct val="90000"/>
              </a:lnSpc>
              <a:spcAft>
                <a:spcPts val="600"/>
              </a:spcAft>
            </a:pPr>
            <a:r>
              <a:rPr lang="en-US" sz="1400" b="1" i="0" dirty="0">
                <a:effectLst/>
              </a:rPr>
              <a:t>Simple Explanation:</a:t>
            </a:r>
            <a:r>
              <a:rPr lang="en-US" sz="1400" b="0" i="0" dirty="0">
                <a:effectLst/>
              </a:rPr>
              <a:t> </a:t>
            </a:r>
          </a:p>
          <a:p>
            <a:pPr algn="just">
              <a:lnSpc>
                <a:spcPct val="90000"/>
              </a:lnSpc>
              <a:spcAft>
                <a:spcPts val="600"/>
              </a:spcAft>
            </a:pPr>
            <a:r>
              <a:rPr lang="en-US" sz="1400" b="0" i="0" dirty="0">
                <a:effectLst/>
              </a:rPr>
              <a:t>This is the bot’s "Safety Inspector." Before the bot gives you an answer, the inspector checks if it followed the rules. If the bot made a mistake or used the wrong format, the inspector tells it to try again until it's perfect. Plus, we put the bot in a "Digital Cage" (Sandbox) where it can look at your data but can't touch or delete important system files.</a:t>
            </a:r>
          </a:p>
        </p:txBody>
      </p:sp>
      <p:pic>
        <p:nvPicPr>
          <p:cNvPr id="8" name="Picture 7">
            <a:extLst>
              <a:ext uri="{FF2B5EF4-FFF2-40B4-BE49-F238E27FC236}">
                <a16:creationId xmlns:a16="http://schemas.microsoft.com/office/drawing/2014/main" id="{3B88A665-4C03-11EA-E110-07BBA11307AB}"/>
              </a:ext>
            </a:extLst>
          </p:cNvPr>
          <p:cNvPicPr>
            <a:picLocks noChangeAspect="1"/>
          </p:cNvPicPr>
          <p:nvPr/>
        </p:nvPicPr>
        <p:blipFill rotWithShape="1">
          <a:blip r:embed="rId2"/>
          <a:srcRect l="1564" t="13404" r="893" b="1685"/>
          <a:stretch/>
        </p:blipFill>
        <p:spPr>
          <a:xfrm>
            <a:off x="4667795" y="2377240"/>
            <a:ext cx="6905495" cy="3569829"/>
          </a:xfrm>
          <a:prstGeom prst="rect">
            <a:avLst/>
          </a:prstGeom>
        </p:spPr>
      </p:pic>
    </p:spTree>
    <p:extLst>
      <p:ext uri="{BB962C8B-B14F-4D97-AF65-F5344CB8AC3E}">
        <p14:creationId xmlns:p14="http://schemas.microsoft.com/office/powerpoint/2010/main" val="1713601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875201-AED0-E3C8-DDF8-F3CE29F08878}"/>
              </a:ext>
            </a:extLst>
          </p:cNvPr>
          <p:cNvSpPr txBox="1"/>
          <p:nvPr/>
        </p:nvSpPr>
        <p:spPr>
          <a:xfrm>
            <a:off x="1371599" y="294538"/>
            <a:ext cx="9895951" cy="10336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effectLst/>
                <a:latin typeface="+mj-lt"/>
                <a:ea typeface="+mj-ea"/>
                <a:cs typeface="+mj-cs"/>
              </a:rPr>
              <a:t>3. System Observability</a:t>
            </a:r>
            <a:endParaRPr lang="en-US" sz="4000" b="1" i="0" kern="1200">
              <a:solidFill>
                <a:srgbClr val="FFFFFF"/>
              </a:solidFill>
              <a:effectLst/>
              <a:latin typeface="+mj-lt"/>
              <a:ea typeface="+mj-ea"/>
              <a:cs typeface="+mj-cs"/>
            </a:endParaRPr>
          </a:p>
        </p:txBody>
      </p:sp>
      <p:sp>
        <p:nvSpPr>
          <p:cNvPr id="4" name="TextBox 3">
            <a:extLst>
              <a:ext uri="{FF2B5EF4-FFF2-40B4-BE49-F238E27FC236}">
                <a16:creationId xmlns:a16="http://schemas.microsoft.com/office/drawing/2014/main" id="{479E4F76-C566-006D-A4B6-F4607F927A77}"/>
              </a:ext>
            </a:extLst>
          </p:cNvPr>
          <p:cNvSpPr txBox="1"/>
          <p:nvPr/>
        </p:nvSpPr>
        <p:spPr>
          <a:xfrm>
            <a:off x="343989" y="1891970"/>
            <a:ext cx="4794070" cy="4966030"/>
          </a:xfrm>
          <a:prstGeom prst="rect">
            <a:avLst/>
          </a:prstGeom>
        </p:spPr>
        <p:txBody>
          <a:bodyPr vert="horz" lIns="91440" tIns="45720" rIns="91440" bIns="45720" rtlCol="0" anchor="ctr">
            <a:normAutofit/>
          </a:bodyPr>
          <a:lstStyle/>
          <a:p>
            <a:pPr algn="just">
              <a:lnSpc>
                <a:spcPct val="90000"/>
              </a:lnSpc>
              <a:spcAft>
                <a:spcPts val="600"/>
              </a:spcAft>
            </a:pPr>
            <a:r>
              <a:rPr lang="en-US" sz="1400" b="0" i="1" dirty="0">
                <a:effectLst/>
              </a:rPr>
              <a:t>Monitoring the internal decision-making process and performance metrics.</a:t>
            </a:r>
          </a:p>
          <a:p>
            <a:pPr algn="just">
              <a:lnSpc>
                <a:spcPct val="90000"/>
              </a:lnSpc>
              <a:spcAft>
                <a:spcPts val="600"/>
              </a:spcAft>
            </a:pPr>
            <a:endParaRPr lang="en-US" sz="1400" b="0" i="0" dirty="0">
              <a:effectLst/>
            </a:endParaRPr>
          </a:p>
          <a:p>
            <a:pPr algn="just">
              <a:lnSpc>
                <a:spcPct val="90000"/>
              </a:lnSpc>
              <a:spcAft>
                <a:spcPts val="600"/>
              </a:spcAft>
            </a:pPr>
            <a:r>
              <a:rPr lang="en-US" sz="1400" b="1" i="0" dirty="0">
                <a:effectLst/>
              </a:rPr>
              <a:t>Technical Explanation:</a:t>
            </a:r>
            <a:r>
              <a:rPr lang="en-US" sz="1400" b="0" i="0" dirty="0">
                <a:effectLst/>
              </a:rPr>
              <a:t> </a:t>
            </a:r>
          </a:p>
          <a:p>
            <a:pPr algn="just">
              <a:lnSpc>
                <a:spcPct val="90000"/>
              </a:lnSpc>
              <a:spcAft>
                <a:spcPts val="600"/>
              </a:spcAft>
            </a:pPr>
            <a:r>
              <a:rPr lang="en-US" sz="1400" b="0" i="0" dirty="0">
                <a:effectLst/>
              </a:rPr>
              <a:t>The architecture is fully instrumented for </a:t>
            </a:r>
            <a:r>
              <a:rPr lang="en-US" sz="1400" b="1" i="0" dirty="0">
                <a:effectLst/>
              </a:rPr>
              <a:t>End-to-End Telemetry</a:t>
            </a:r>
            <a:r>
              <a:rPr lang="en-US" sz="1400" b="0" i="0" dirty="0">
                <a:effectLst/>
              </a:rPr>
              <a:t>. This includes </a:t>
            </a:r>
            <a:r>
              <a:rPr lang="en-US" sz="1400" b="1" i="0" dirty="0">
                <a:effectLst/>
              </a:rPr>
              <a:t>Asynchronous Tracing</a:t>
            </a:r>
            <a:r>
              <a:rPr lang="en-US" sz="1400" b="0" i="0" dirty="0">
                <a:effectLst/>
              </a:rPr>
              <a:t> of every node in the logic graph. We track granular metrics such as </a:t>
            </a:r>
            <a:r>
              <a:rPr lang="en-US" sz="1400" b="1" i="0" dirty="0">
                <a:effectLst/>
              </a:rPr>
              <a:t>Token Usage Efficiency</a:t>
            </a:r>
            <a:r>
              <a:rPr lang="en-US" sz="1400" b="0" i="0" dirty="0">
                <a:effectLst/>
              </a:rPr>
              <a:t>, </a:t>
            </a:r>
            <a:r>
              <a:rPr lang="en-US" sz="1400" b="1" i="0" dirty="0">
                <a:effectLst/>
              </a:rPr>
              <a:t>Inference Latency</a:t>
            </a:r>
            <a:r>
              <a:rPr lang="en-US" sz="1400" b="0" i="0" dirty="0">
                <a:effectLst/>
              </a:rPr>
              <a:t>, and </a:t>
            </a:r>
            <a:r>
              <a:rPr lang="en-US" sz="1400" b="1" i="0" dirty="0">
                <a:effectLst/>
              </a:rPr>
              <a:t>Dependency Resolution paths</a:t>
            </a:r>
            <a:r>
              <a:rPr lang="en-US" sz="1400" b="0" i="0" dirty="0">
                <a:effectLst/>
              </a:rPr>
              <a:t>. </a:t>
            </a:r>
          </a:p>
          <a:p>
            <a:pPr algn="just">
              <a:lnSpc>
                <a:spcPct val="90000"/>
              </a:lnSpc>
              <a:spcAft>
                <a:spcPts val="600"/>
              </a:spcAft>
            </a:pPr>
            <a:r>
              <a:rPr lang="en-US" sz="1400" b="0" i="0" dirty="0">
                <a:effectLst/>
              </a:rPr>
              <a:t>Every request generates a unique </a:t>
            </a:r>
            <a:r>
              <a:rPr lang="en-US" sz="1400" b="1" i="0" dirty="0">
                <a:effectLst/>
              </a:rPr>
              <a:t>Trace ID</a:t>
            </a:r>
            <a:r>
              <a:rPr lang="en-US" sz="1400" b="0" i="0" dirty="0">
                <a:effectLst/>
              </a:rPr>
              <a:t>, allowing us to replay the exact sequence of logic, from the initial question parsing to the final data rendering, for debugging and performance auditing.</a:t>
            </a:r>
          </a:p>
          <a:p>
            <a:pPr algn="just">
              <a:lnSpc>
                <a:spcPct val="90000"/>
              </a:lnSpc>
              <a:spcAft>
                <a:spcPts val="600"/>
              </a:spcAft>
            </a:pPr>
            <a:endParaRPr lang="en-US" sz="1400" b="0" i="0" dirty="0">
              <a:effectLst/>
            </a:endParaRPr>
          </a:p>
          <a:p>
            <a:pPr algn="just">
              <a:lnSpc>
                <a:spcPct val="90000"/>
              </a:lnSpc>
              <a:spcAft>
                <a:spcPts val="600"/>
              </a:spcAft>
            </a:pPr>
            <a:r>
              <a:rPr lang="en-US" sz="1400" b="1" i="0" dirty="0">
                <a:effectLst/>
              </a:rPr>
              <a:t>Simple Explanation:</a:t>
            </a:r>
            <a:r>
              <a:rPr lang="en-US" sz="1400" b="0" i="0" dirty="0">
                <a:effectLst/>
              </a:rPr>
              <a:t> </a:t>
            </a:r>
          </a:p>
          <a:p>
            <a:pPr algn="just">
              <a:lnSpc>
                <a:spcPct val="90000"/>
              </a:lnSpc>
              <a:spcAft>
                <a:spcPts val="600"/>
              </a:spcAft>
            </a:pPr>
            <a:r>
              <a:rPr lang="en-US" sz="1400" b="0" i="0" dirty="0">
                <a:effectLst/>
              </a:rPr>
              <a:t>This is like a "Flight Data Recorder" (Black Box) for the bot. It records every thought and action the bot takes. If something goes wrong, we can look back at the recording to see exactly what the bot was thinking, how much "brain power" (Tokens) it used, and how long it took to find the answer.</a:t>
            </a:r>
          </a:p>
        </p:txBody>
      </p:sp>
      <p:pic>
        <p:nvPicPr>
          <p:cNvPr id="6" name="Picture 5">
            <a:extLst>
              <a:ext uri="{FF2B5EF4-FFF2-40B4-BE49-F238E27FC236}">
                <a16:creationId xmlns:a16="http://schemas.microsoft.com/office/drawing/2014/main" id="{20960CF9-CDAB-99F2-44CE-4641E057ECC3}"/>
              </a:ext>
            </a:extLst>
          </p:cNvPr>
          <p:cNvPicPr>
            <a:picLocks noChangeAspect="1"/>
          </p:cNvPicPr>
          <p:nvPr/>
        </p:nvPicPr>
        <p:blipFill>
          <a:blip r:embed="rId2"/>
          <a:stretch>
            <a:fillRect/>
          </a:stretch>
        </p:blipFill>
        <p:spPr>
          <a:xfrm>
            <a:off x="5138059" y="2807138"/>
            <a:ext cx="6461764" cy="2814902"/>
          </a:xfrm>
          <a:prstGeom prst="rect">
            <a:avLst/>
          </a:prstGeom>
        </p:spPr>
      </p:pic>
      <p:pic>
        <p:nvPicPr>
          <p:cNvPr id="7" name="Picture 6">
            <a:extLst>
              <a:ext uri="{FF2B5EF4-FFF2-40B4-BE49-F238E27FC236}">
                <a16:creationId xmlns:a16="http://schemas.microsoft.com/office/drawing/2014/main" id="{784F1EA0-7790-0886-4944-22E55C9584A9}"/>
              </a:ext>
            </a:extLst>
          </p:cNvPr>
          <p:cNvPicPr>
            <a:picLocks noChangeAspect="1"/>
          </p:cNvPicPr>
          <p:nvPr/>
        </p:nvPicPr>
        <p:blipFill>
          <a:blip r:embed="rId2"/>
          <a:stretch>
            <a:fillRect/>
          </a:stretch>
        </p:blipFill>
        <p:spPr>
          <a:xfrm>
            <a:off x="5138059" y="2813574"/>
            <a:ext cx="6461764" cy="2814902"/>
          </a:xfrm>
          <a:prstGeom prst="rect">
            <a:avLst/>
          </a:prstGeom>
        </p:spPr>
      </p:pic>
    </p:spTree>
    <p:extLst>
      <p:ext uri="{BB962C8B-B14F-4D97-AF65-F5344CB8AC3E}">
        <p14:creationId xmlns:p14="http://schemas.microsoft.com/office/powerpoint/2010/main" val="346850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2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875201-AED0-E3C8-DDF8-F3CE29F08878}"/>
              </a:ext>
            </a:extLst>
          </p:cNvPr>
          <p:cNvSpPr txBox="1"/>
          <p:nvPr/>
        </p:nvSpPr>
        <p:spPr>
          <a:xfrm>
            <a:off x="1371599" y="294538"/>
            <a:ext cx="9895951" cy="10336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effectLst/>
                <a:latin typeface="+mj-lt"/>
                <a:ea typeface="+mj-ea"/>
                <a:cs typeface="+mj-cs"/>
              </a:rPr>
              <a:t>4. Data Aggregation &amp; Logic Caching</a:t>
            </a:r>
            <a:endParaRPr lang="en-US" sz="4000" b="1" i="0" kern="1200">
              <a:solidFill>
                <a:srgbClr val="FFFFFF"/>
              </a:solidFill>
              <a:effectLst/>
              <a:latin typeface="+mj-lt"/>
              <a:ea typeface="+mj-ea"/>
              <a:cs typeface="+mj-cs"/>
            </a:endParaRPr>
          </a:p>
        </p:txBody>
      </p:sp>
      <p:sp>
        <p:nvSpPr>
          <p:cNvPr id="4" name="TextBox 3">
            <a:extLst>
              <a:ext uri="{FF2B5EF4-FFF2-40B4-BE49-F238E27FC236}">
                <a16:creationId xmlns:a16="http://schemas.microsoft.com/office/drawing/2014/main" id="{700A691C-FCEA-4432-ED60-9B3CCAABE834}"/>
              </a:ext>
            </a:extLst>
          </p:cNvPr>
          <p:cNvSpPr txBox="1"/>
          <p:nvPr/>
        </p:nvSpPr>
        <p:spPr>
          <a:xfrm>
            <a:off x="372261" y="1720242"/>
            <a:ext cx="4696128" cy="5014947"/>
          </a:xfrm>
          <a:prstGeom prst="rect">
            <a:avLst/>
          </a:prstGeom>
        </p:spPr>
        <p:txBody>
          <a:bodyPr vert="horz" lIns="91440" tIns="45720" rIns="91440" bIns="45720" rtlCol="0" anchor="ctr">
            <a:normAutofit/>
          </a:bodyPr>
          <a:lstStyle/>
          <a:p>
            <a:pPr algn="just">
              <a:lnSpc>
                <a:spcPct val="90000"/>
              </a:lnSpc>
              <a:spcAft>
                <a:spcPts val="600"/>
              </a:spcAft>
            </a:pPr>
            <a:r>
              <a:rPr lang="en-US" sz="1400" b="0" i="1" dirty="0">
                <a:effectLst/>
              </a:rPr>
              <a:t>Maximizing performance through pre-computation and pattern matching.</a:t>
            </a:r>
          </a:p>
          <a:p>
            <a:pPr algn="just">
              <a:lnSpc>
                <a:spcPct val="90000"/>
              </a:lnSpc>
              <a:spcAft>
                <a:spcPts val="600"/>
              </a:spcAft>
            </a:pPr>
            <a:endParaRPr lang="en-US" sz="1400" b="0" i="0" dirty="0">
              <a:effectLst/>
            </a:endParaRPr>
          </a:p>
          <a:p>
            <a:pPr algn="just">
              <a:lnSpc>
                <a:spcPct val="90000"/>
              </a:lnSpc>
              <a:spcAft>
                <a:spcPts val="600"/>
              </a:spcAft>
            </a:pPr>
            <a:r>
              <a:rPr lang="en-US" sz="1400" b="1" i="0" dirty="0">
                <a:effectLst/>
              </a:rPr>
              <a:t>Technical Explanation:</a:t>
            </a:r>
            <a:r>
              <a:rPr lang="en-US" sz="1400" b="0" i="0" dirty="0">
                <a:effectLst/>
              </a:rPr>
              <a:t> </a:t>
            </a:r>
          </a:p>
          <a:p>
            <a:pPr algn="just">
              <a:lnSpc>
                <a:spcPct val="90000"/>
              </a:lnSpc>
              <a:spcAft>
                <a:spcPts val="600"/>
              </a:spcAft>
            </a:pPr>
            <a:r>
              <a:rPr lang="en-US" sz="1400" b="0" i="0" dirty="0">
                <a:effectLst/>
              </a:rPr>
              <a:t>To achieve sub-second response times, the system employs </a:t>
            </a:r>
            <a:r>
              <a:rPr lang="en-US" sz="1400" b="1" i="0" dirty="0">
                <a:effectLst/>
              </a:rPr>
              <a:t>In-Memory Data Materialization</a:t>
            </a:r>
            <a:r>
              <a:rPr lang="en-US" sz="1400" b="0" i="0" dirty="0">
                <a:effectLst/>
              </a:rPr>
              <a:t>. During the initialization phase, the raw dataset is pre-aggregated and indexed into </a:t>
            </a:r>
            <a:r>
              <a:rPr lang="en-US" sz="1400" b="1" i="0" dirty="0">
                <a:effectLst/>
              </a:rPr>
              <a:t>High-Speed Hash Maps (Dictionaries)</a:t>
            </a:r>
            <a:r>
              <a:rPr lang="en-US" sz="1400" b="0" i="0" dirty="0">
                <a:effectLst/>
              </a:rPr>
              <a:t> with O(1) lookup complexity. </a:t>
            </a:r>
          </a:p>
          <a:p>
            <a:pPr algn="just">
              <a:lnSpc>
                <a:spcPct val="90000"/>
              </a:lnSpc>
              <a:spcAft>
                <a:spcPts val="600"/>
              </a:spcAft>
            </a:pPr>
            <a:r>
              <a:rPr lang="en-US" sz="1400" b="0" i="0" dirty="0">
                <a:effectLst/>
              </a:rPr>
              <a:t>Additionally, we use </a:t>
            </a:r>
            <a:r>
              <a:rPr lang="en-US" sz="1400" b="1" i="0" dirty="0">
                <a:effectLst/>
              </a:rPr>
              <a:t>Deterministic Pattern Matching</a:t>
            </a:r>
            <a:r>
              <a:rPr lang="en-US" sz="1400" b="0" i="0" dirty="0">
                <a:effectLst/>
              </a:rPr>
              <a:t> as a logic-bypass layer. For highly repetitive business queries, the system matches the user's intent to a pre-built logic template, bypassing the computationally expensive AI generation step entirely.</a:t>
            </a:r>
          </a:p>
          <a:p>
            <a:pPr algn="just">
              <a:lnSpc>
                <a:spcPct val="90000"/>
              </a:lnSpc>
              <a:spcAft>
                <a:spcPts val="600"/>
              </a:spcAft>
            </a:pPr>
            <a:endParaRPr lang="en-US" sz="1400" b="0" i="0" dirty="0">
              <a:effectLst/>
            </a:endParaRPr>
          </a:p>
          <a:p>
            <a:pPr algn="just">
              <a:lnSpc>
                <a:spcPct val="90000"/>
              </a:lnSpc>
              <a:spcAft>
                <a:spcPts val="600"/>
              </a:spcAft>
            </a:pPr>
            <a:r>
              <a:rPr lang="en-US" sz="1400" b="1" i="0" dirty="0">
                <a:effectLst/>
              </a:rPr>
              <a:t>Simple Explanation:</a:t>
            </a:r>
            <a:r>
              <a:rPr lang="en-US" sz="1400" b="0" i="0" dirty="0">
                <a:effectLst/>
              </a:rPr>
              <a:t> To make the bot lightning fast, we use "Smart Shortcuts." Instead of reading the whole data file every time, the bot sorts everything into organized folders (Indexes) when it starts up. If you ask a common question that it already knows how to answer, it skips the "Thinking" phase and goes straight to the answer, making it feel instant.</a:t>
            </a:r>
          </a:p>
        </p:txBody>
      </p:sp>
      <p:pic>
        <p:nvPicPr>
          <p:cNvPr id="8" name="Picture 7">
            <a:extLst>
              <a:ext uri="{FF2B5EF4-FFF2-40B4-BE49-F238E27FC236}">
                <a16:creationId xmlns:a16="http://schemas.microsoft.com/office/drawing/2014/main" id="{45852FA7-457D-1E72-97C8-7B32F8386CEA}"/>
              </a:ext>
            </a:extLst>
          </p:cNvPr>
          <p:cNvPicPr>
            <a:picLocks noChangeAspect="1"/>
          </p:cNvPicPr>
          <p:nvPr/>
        </p:nvPicPr>
        <p:blipFill rotWithShape="1">
          <a:blip r:embed="rId2"/>
          <a:srcRect l="1041" t="6094" b="1569"/>
          <a:stretch/>
        </p:blipFill>
        <p:spPr>
          <a:xfrm>
            <a:off x="5068389" y="2847702"/>
            <a:ext cx="6445079" cy="2914021"/>
          </a:xfrm>
          <a:prstGeom prst="rect">
            <a:avLst/>
          </a:prstGeom>
        </p:spPr>
      </p:pic>
    </p:spTree>
    <p:extLst>
      <p:ext uri="{BB962C8B-B14F-4D97-AF65-F5344CB8AC3E}">
        <p14:creationId xmlns:p14="http://schemas.microsoft.com/office/powerpoint/2010/main" val="503338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1572</TotalTime>
  <Words>747</Words>
  <Application>Microsoft Office PowerPoint</Application>
  <PresentationFormat>Widescreen</PresentationFormat>
  <Paragraphs>38</Paragraphs>
  <Slides>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Segoe WPC</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Adeeba Noor</dc:creator>
  <cp:lastModifiedBy>Adeeba Noor</cp:lastModifiedBy>
  <cp:revision>2</cp:revision>
  <dcterms:created xsi:type="dcterms:W3CDTF">2026-04-08T06:32:09Z</dcterms:created>
  <dcterms:modified xsi:type="dcterms:W3CDTF">2026-04-09T08:44:14Z</dcterms:modified>
</cp:coreProperties>
</file>