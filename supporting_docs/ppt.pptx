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5" r:id="rId11"/>
    <p:sldId id="266" r:id="rId12"/>
    <p:sldId id="276" r:id="rId13"/>
    <p:sldId id="277" r:id="rId14"/>
    <p:sldId id="267" r:id="rId15"/>
    <p:sldId id="268" r:id="rId16"/>
    <p:sldId id="269" r:id="rId17"/>
    <p:sldId id="270" r:id="rId18"/>
    <p:sldId id="271" r:id="rId19"/>
    <p:sldId id="272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998B"/>
    <a:srgbClr val="C57C5C"/>
    <a:srgbClr val="F2F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FE288-384A-4216-96F8-D03E3ACDB7C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6DF01-B2A5-4BF6-8BFF-15F7F47376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53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701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507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965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996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301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241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997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761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707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974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68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6DF01-B2A5-4BF6-8BFF-15F7F473761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06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E400-8CFF-A14A-9F3E-8DAA178A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D70D2-009F-982D-5259-67E0537E5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89508-5D84-1C13-18CF-2C045120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8AC9-B0A6-8B9B-E94A-E3CA22EB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088B7-2964-2507-63E7-B5D5F458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62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7E0A-106C-32A7-C5A6-2CCCC200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781AD-556E-3376-7D79-69C14BADF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941C-4A72-4E04-1320-52FAC14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83FD3-E87A-F71E-43C1-8FEDEC14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1348F-AF1C-FF37-3606-FEBFAE65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2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BE10-3267-244C-6138-637BC511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689F7-5C07-9D9F-4BD0-4F8177BD3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EBA6-ED1E-42BE-4526-8B273BA9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2C642-A2E4-D40E-097B-2266AFC8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71BDD-1706-A715-0037-E9C4D4F82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CF7E-73F2-B36E-B3B9-BB273D9B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A6C8E-8FE5-ED3A-904D-2DA3EAE45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BB811-04BE-BAE5-6043-7764F0ACC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ECB21-B076-195A-1A13-2FABAAA0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05516-0F5F-B867-6AD6-217EA8EE5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BDA89-F012-4679-A5EF-F92EEB69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850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643B-3141-E5F5-AEBE-22BABCC3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4467D-A992-6F72-39BC-C6AAD5655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50F6B-851C-4523-046E-AB4A92D5F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D7D96-28B4-3BCD-A4AC-462584C4E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33CDA-9638-2BC0-56B2-9E4D0B143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EF0E56-0B47-D469-A509-D4603015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C02AA3-AEE9-B19B-8902-025F7CDC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7C4D7-7C2C-F401-49D6-09E3D1F3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26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EFF6-F062-83BC-F3E6-88A81938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BA4F7-255E-5357-4B0E-1A036921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8C972-8A96-8F66-EF28-6600849A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8D26A-2584-0796-CE7B-8E1F21E8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82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3613D-C0D0-0C7B-6723-D0D9CCA1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3D5FE-B3CE-EB53-758D-FA11F87D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A012D-99EC-AA9D-1DB9-705A3A2E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013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FD5B-B818-FDA5-A6D3-27B0C460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A607-8BF9-FC73-D239-19B4A81D4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9779A-8A5F-7FDB-F2E2-33730E492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5C273-CD9C-EAEE-9F66-AF04A895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B9CBA-55CD-64DA-1A24-6AAA223E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A5F11-9085-A71E-1EE5-7E06830A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75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1CD7-2E42-5224-949B-1BDF148E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A6136-9E2A-E5C1-8A42-94BD3590B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A25AB-88EF-D656-C43C-15FDEF3C2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51C4F-2DEC-451F-B0E1-27C12EEF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E42A2-4C78-95F7-20AE-7DF5ADF1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F4430-F907-1D74-4DC1-DFB3EC00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08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66E2D-7877-DDB1-9C37-FE6F6037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8D787-2FE5-63F6-D415-611B9C140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99D78-D3C7-2760-2914-CF0910AC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C5738-60D6-3D2C-16BA-FD9B4FF6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ECE31-82AD-C195-B93C-BFF3725C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12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7E44DA-A4DF-6F31-07D7-67A748F0F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54B64-AEB2-72A7-7D07-66B2A803A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2E340-ECEA-F2A5-8241-2922B3F7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D1E60-759B-A80D-29B9-2981F4C3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B1EA0-EA2A-0515-654C-31B548D4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2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EBDE2-AA3B-7E94-1B9B-4B9FB6572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7D105-78B8-8435-5D89-57B79587E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5AC8F-9159-C27C-D5C5-81EBA4DAF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CCAC0-9D87-4460-89B0-6D59608D342A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1862C-FB68-44E8-A4C5-8E5C4152C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F5183-F6B0-B082-75E7-74186BEBF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EE8C-3C29-47AD-B6E9-34B3B91BF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84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eb-production-4bd43.up.railway.app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9187"/>
            <a:ext cx="11924950" cy="2387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F14375-41D7-1015-F2E7-99783CFE9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4429"/>
            <a:ext cx="9144000" cy="2387600"/>
          </a:xfrm>
        </p:spPr>
        <p:txBody>
          <a:bodyPr/>
          <a:lstStyle/>
          <a:p>
            <a:r>
              <a:rPr lang="en-IN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SPARE PARTS DEMAND FORECASTING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9E5A7-8970-5A5D-87F4-23F91503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7530"/>
            <a:ext cx="9144000" cy="798512"/>
          </a:xfrm>
        </p:spPr>
        <p:txBody>
          <a:bodyPr/>
          <a:lstStyle/>
          <a:p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Weekly Demand Prediction for ACR SPARES using Machine Learning &amp; Time Series Models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889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2771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0" dirty="0">
                <a:solidFill>
                  <a:srgbClr val="1B998B"/>
                </a:solidFill>
                <a:effectLst/>
              </a:rPr>
              <a:t> Problem Statement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5" y="1750323"/>
            <a:ext cx="171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C57C5C"/>
                </a:solidFill>
                <a:effectLst/>
              </a:rPr>
              <a:t>The Challenge</a:t>
            </a:r>
            <a:endParaRPr lang="en-IN" dirty="0">
              <a:solidFill>
                <a:srgbClr val="C57C5C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D2960F-B22B-9218-397F-8DE6E9202855}"/>
              </a:ext>
            </a:extLst>
          </p:cNvPr>
          <p:cNvSpPr txBox="1"/>
          <p:nvPr/>
        </p:nvSpPr>
        <p:spPr>
          <a:xfrm>
            <a:off x="1914525" y="2274838"/>
            <a:ext cx="83629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Spare parts procurement is driven by </a:t>
            </a: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gut feeling and historical averages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— leading to either </a:t>
            </a: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stockouts or excess inventory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KPCL manages </a:t>
            </a: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hundreds of spare part SKUs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across compressor models — manually forecasting demand is not scalable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Incorrect demand planning → </a:t>
            </a: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delayed service fulfilment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increased holding costs, and dissatisfied customers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DF5EDC-878A-34BA-F707-62475E4EF24E}"/>
              </a:ext>
            </a:extLst>
          </p:cNvPr>
          <p:cNvSpPr/>
          <p:nvPr/>
        </p:nvSpPr>
        <p:spPr>
          <a:xfrm>
            <a:off x="2052637" y="5191125"/>
            <a:ext cx="8086725" cy="857250"/>
          </a:xfrm>
          <a:prstGeom prst="rect">
            <a:avLst/>
          </a:prstGeom>
          <a:solidFill>
            <a:srgbClr val="1B9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Goal Statement-  </a:t>
            </a:r>
            <a:r>
              <a:rPr lang="en-US" dirty="0"/>
              <a:t>Build an automated, data-driven weekly demand forecasting system for the 8 highest-priority ACR SPARES items — and deploy it as a live web application accessible to the operations team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01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2771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0" dirty="0">
                <a:solidFill>
                  <a:srgbClr val="1B998B"/>
                </a:solidFill>
                <a:effectLst/>
              </a:rPr>
              <a:t>Dataset Overview</a:t>
            </a:r>
            <a:r>
              <a:rPr lang="en-IN" sz="2400" b="1" dirty="0">
                <a:solidFill>
                  <a:srgbClr val="1B998B"/>
                </a:solidFill>
              </a:rPr>
              <a:t> </a:t>
            </a:r>
            <a:endParaRPr lang="en-IN" sz="2400" b="1" i="0" dirty="0">
              <a:solidFill>
                <a:srgbClr val="1B998B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2466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C57C5C"/>
                </a:solidFill>
                <a:effectLst/>
                <a:latin typeface="Segoe WPC"/>
              </a:rPr>
              <a:t>Data Source &amp; Scope</a:t>
            </a:r>
            <a:endParaRPr lang="en-IN" dirty="0">
              <a:solidFill>
                <a:srgbClr val="C57C5C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13FAF2-C58F-EA09-E741-53D6D55AB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370"/>
              </p:ext>
            </p:extLst>
          </p:nvPr>
        </p:nvGraphicFramePr>
        <p:xfrm>
          <a:off x="2695573" y="2590800"/>
          <a:ext cx="7429502" cy="3133725"/>
        </p:xfrm>
        <a:graphic>
          <a:graphicData uri="http://schemas.openxmlformats.org/drawingml/2006/table">
            <a:tbl>
              <a:tblPr/>
              <a:tblGrid>
                <a:gridCol w="2085977">
                  <a:extLst>
                    <a:ext uri="{9D8B030D-6E8A-4147-A177-3AD203B41FA5}">
                      <a16:colId xmlns:a16="http://schemas.microsoft.com/office/drawing/2014/main" val="3574176939"/>
                    </a:ext>
                  </a:extLst>
                </a:gridCol>
                <a:gridCol w="5343525">
                  <a:extLst>
                    <a:ext uri="{9D8B030D-6E8A-4147-A177-3AD203B41FA5}">
                      <a16:colId xmlns:a16="http://schemas.microsoft.com/office/drawing/2014/main" val="441174456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effectLst/>
                        </a:rPr>
                        <a:t>Property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05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5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5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5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effectLst/>
                        </a:rPr>
                        <a:t>Details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05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5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6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38258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effectLst/>
                        </a:rPr>
                        <a:t>Source File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05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6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5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6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KPC___Despatch_Details_260924.xlsx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6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6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6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6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67129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effectLst/>
                        </a:rPr>
                        <a:t>Business Filter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06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6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6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effectLst/>
                        </a:rPr>
                        <a:t>ACR SPARES model only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6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6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6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7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4806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effectLst/>
                        </a:rPr>
                        <a:t>Item Selection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7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8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Top 8 items by order volume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607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7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7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564861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effectLst/>
                        </a:rPr>
                        <a:t>Key Columns Used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8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7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8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8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OA_DATE, ITEM_CODE, QTY, MODEL, ITEM_DESCRIPTION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07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7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7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7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1594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effectLst/>
                        </a:rPr>
                        <a:t>Total Raw Rows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08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7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8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8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effectLst/>
                        </a:rPr>
                        <a:t>~4,769 order line records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07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7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7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8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7771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effectLst/>
                        </a:rPr>
                        <a:t>Date Range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8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8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8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8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effectLst/>
                        </a:rPr>
                        <a:t>June 2021 → September 2024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08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8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8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8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704427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effectLst/>
                        </a:rPr>
                        <a:t>Granularity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8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8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8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8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effectLst/>
                        </a:rPr>
                        <a:t>Aggregated to </a:t>
                      </a:r>
                      <a:r>
                        <a:rPr lang="en-IN" sz="1600" b="1" dirty="0">
                          <a:effectLst/>
                        </a:rPr>
                        <a:t>weekly</a:t>
                      </a:r>
                      <a:r>
                        <a:rPr lang="en-IN" sz="1600" dirty="0">
                          <a:effectLst/>
                        </a:rPr>
                        <a:t> level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08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8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8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8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085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56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2771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0" dirty="0">
                <a:solidFill>
                  <a:srgbClr val="1B998B"/>
                </a:solidFill>
                <a:effectLst/>
              </a:rPr>
              <a:t>The 8 Tracked Items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3067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C57C5C"/>
                </a:solidFill>
                <a:effectLst/>
                <a:latin typeface="Segoe WPC"/>
              </a:rPr>
              <a:t>Priority Items under Forecast</a:t>
            </a:r>
            <a:endParaRPr lang="en-IN" dirty="0">
              <a:solidFill>
                <a:srgbClr val="C57C5C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231B54-C111-7E34-1D61-4B9ECC823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72896"/>
              </p:ext>
            </p:extLst>
          </p:nvPr>
        </p:nvGraphicFramePr>
        <p:xfrm>
          <a:off x="1780902" y="2244626"/>
          <a:ext cx="8630195" cy="4351334"/>
        </p:xfrm>
        <a:graphic>
          <a:graphicData uri="http://schemas.openxmlformats.org/drawingml/2006/table">
            <a:tbl>
              <a:tblPr/>
              <a:tblGrid>
                <a:gridCol w="648245">
                  <a:extLst>
                    <a:ext uri="{9D8B030D-6E8A-4147-A177-3AD203B41FA5}">
                      <a16:colId xmlns:a16="http://schemas.microsoft.com/office/drawing/2014/main" val="102715182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650451007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229346022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309718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87533615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 algn="l"/>
                      <a:endParaRPr lang="en-IN" sz="1600" b="0" dirty="0">
                        <a:effectLst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107A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7A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0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effectLst/>
                        </a:rPr>
                        <a:t>Item Code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10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8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1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effectLst/>
                        </a:rPr>
                        <a:t>Description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108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2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8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1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effectLst/>
                        </a:rPr>
                        <a:t>Training Rows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92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63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2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2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effectLst/>
                        </a:rPr>
                        <a:t>Champion Model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63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63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63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2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05625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900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1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0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2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082.03.110.50.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1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1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1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3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Piston KC/KCX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1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2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1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3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1,055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102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2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2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AR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2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2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2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3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84236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502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3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2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3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082.04.030.50.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3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3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3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4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Bearing Bush Big End Con Rod KC/KCX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3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3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1,052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3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3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4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AR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103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3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4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82903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903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4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3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082.08.000.50.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4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4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5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Shaft Seal Assembly KC/KCX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4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5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973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4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4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4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5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Prophet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4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4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4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5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2313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1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5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6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336.40.401.50.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5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5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5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6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Cylinder Liner KC/KCX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5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5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5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932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5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5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5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7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AR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5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5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6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46173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906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6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6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6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993.00.311.00.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6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6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7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Gasket Suct Strainer KC/KCX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7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7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337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7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6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7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7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AR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106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6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6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7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03448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906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7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6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8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085.00.003.50.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7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7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7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8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Kirloskar Advantage Oil 20L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7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7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7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9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243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7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7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7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0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MA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7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7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4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0657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7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908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8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8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2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084.19.001.50.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8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9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8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Gasket Set KC4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109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0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9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3D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0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4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0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3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MA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4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4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4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1792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rgbClr val="102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2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351.03.301.50.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3D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Liner Cylinder AC70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503D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3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3D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D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</a:rPr>
                        <a:t>27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103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3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MA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31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8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90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2771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dirty="0">
                <a:solidFill>
                  <a:srgbClr val="1B998B"/>
                </a:solidFill>
                <a:effectLst/>
              </a:rPr>
              <a:t>Data Pipeline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3343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C57C5C"/>
                </a:solidFill>
                <a:effectLst/>
              </a:rPr>
              <a:t>From Raw Data to Weekly Series</a:t>
            </a:r>
            <a:endParaRPr lang="en-IN" dirty="0">
              <a:solidFill>
                <a:srgbClr val="C57C5C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B19BD1-D002-324C-43B8-DA49AF00DD41}"/>
              </a:ext>
            </a:extLst>
          </p:cNvPr>
          <p:cNvSpPr/>
          <p:nvPr/>
        </p:nvSpPr>
        <p:spPr>
          <a:xfrm>
            <a:off x="523875" y="3596582"/>
            <a:ext cx="1571625" cy="433089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Raw XLSX File 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D14644-5111-B596-DA52-27FF4FE9BDBA}"/>
              </a:ext>
            </a:extLst>
          </p:cNvPr>
          <p:cNvSpPr/>
          <p:nvPr/>
        </p:nvSpPr>
        <p:spPr>
          <a:xfrm>
            <a:off x="2471737" y="3498801"/>
            <a:ext cx="2066925" cy="62865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Column Renaming &amp; Type Casting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42FE31-04A2-B457-7BC4-BB10317398B5}"/>
              </a:ext>
            </a:extLst>
          </p:cNvPr>
          <p:cNvSpPr/>
          <p:nvPr/>
        </p:nvSpPr>
        <p:spPr>
          <a:xfrm>
            <a:off x="7310434" y="4545954"/>
            <a:ext cx="1724025" cy="528339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Train / Test Split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67363B-C3CB-FC67-2260-8391AA4B344A}"/>
              </a:ext>
            </a:extLst>
          </p:cNvPr>
          <p:cNvSpPr/>
          <p:nvPr/>
        </p:nvSpPr>
        <p:spPr>
          <a:xfrm>
            <a:off x="9410696" y="4495798"/>
            <a:ext cx="1724025" cy="62865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Fill Missing Weeks with 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9C4BCD-8E5E-DEEE-E977-3F2418477BA8}"/>
              </a:ext>
            </a:extLst>
          </p:cNvPr>
          <p:cNvSpPr/>
          <p:nvPr/>
        </p:nvSpPr>
        <p:spPr>
          <a:xfrm>
            <a:off x="4914899" y="3481686"/>
            <a:ext cx="1724025" cy="62865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Filter: MODEL = "ACR SPARES"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2E3625-8DD9-E3DA-4BF9-15893FAF48C8}"/>
              </a:ext>
            </a:extLst>
          </p:cNvPr>
          <p:cNvSpPr/>
          <p:nvPr/>
        </p:nvSpPr>
        <p:spPr>
          <a:xfrm>
            <a:off x="9115422" y="3470227"/>
            <a:ext cx="2314575" cy="62865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Resample to Weekly (W) Frequency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A541C1-70DA-986E-2F09-96E667D36FA6}"/>
              </a:ext>
            </a:extLst>
          </p:cNvPr>
          <p:cNvSpPr/>
          <p:nvPr/>
        </p:nvSpPr>
        <p:spPr>
          <a:xfrm>
            <a:off x="7015161" y="3531841"/>
            <a:ext cx="1724024" cy="52834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effectLst/>
              </a:rPr>
              <a:t>Select 8 Priority Items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B12DDC-85EA-2DE3-2A07-F0102CD6DEAC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2095500" y="3813126"/>
            <a:ext cx="376237" cy="1"/>
          </a:xfrm>
          <a:prstGeom prst="straightConnector1">
            <a:avLst/>
          </a:prstGeom>
          <a:ln>
            <a:solidFill>
              <a:srgbClr val="C57C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9AA080-D797-8B7B-9F68-D268BE5BB51D}"/>
              </a:ext>
            </a:extLst>
          </p:cNvPr>
          <p:cNvCxnSpPr/>
          <p:nvPr/>
        </p:nvCxnSpPr>
        <p:spPr>
          <a:xfrm flipV="1">
            <a:off x="4538662" y="3784551"/>
            <a:ext cx="376237" cy="1"/>
          </a:xfrm>
          <a:prstGeom prst="straightConnector1">
            <a:avLst/>
          </a:prstGeom>
          <a:ln>
            <a:solidFill>
              <a:srgbClr val="C57C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67D465-53F0-7312-8D9D-DAB0CC49FA15}"/>
              </a:ext>
            </a:extLst>
          </p:cNvPr>
          <p:cNvCxnSpPr/>
          <p:nvPr/>
        </p:nvCxnSpPr>
        <p:spPr>
          <a:xfrm flipV="1">
            <a:off x="6638924" y="3800104"/>
            <a:ext cx="376237" cy="1"/>
          </a:xfrm>
          <a:prstGeom prst="straightConnector1">
            <a:avLst/>
          </a:prstGeom>
          <a:ln>
            <a:solidFill>
              <a:srgbClr val="C57C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86746A-7834-3DFC-8F68-E2A49B8F5C80}"/>
              </a:ext>
            </a:extLst>
          </p:cNvPr>
          <p:cNvCxnSpPr/>
          <p:nvPr/>
        </p:nvCxnSpPr>
        <p:spPr>
          <a:xfrm flipV="1">
            <a:off x="8739185" y="3826743"/>
            <a:ext cx="376237" cy="1"/>
          </a:xfrm>
          <a:prstGeom prst="straightConnector1">
            <a:avLst/>
          </a:prstGeom>
          <a:ln>
            <a:solidFill>
              <a:srgbClr val="C57C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54BDF3-B51E-6FBB-9EF1-7B061D47DC3F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flipH="1">
            <a:off x="10272709" y="4098877"/>
            <a:ext cx="1" cy="396921"/>
          </a:xfrm>
          <a:prstGeom prst="straightConnector1">
            <a:avLst/>
          </a:prstGeom>
          <a:ln>
            <a:solidFill>
              <a:srgbClr val="C57C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027C95-0734-8F48-B327-BD1D92B8FF97}"/>
              </a:ext>
            </a:extLst>
          </p:cNvPr>
          <p:cNvCxnSpPr/>
          <p:nvPr/>
        </p:nvCxnSpPr>
        <p:spPr>
          <a:xfrm flipV="1">
            <a:off x="9034459" y="4810124"/>
            <a:ext cx="376237" cy="1"/>
          </a:xfrm>
          <a:prstGeom prst="straightConnector1">
            <a:avLst/>
          </a:prstGeom>
          <a:ln>
            <a:solidFill>
              <a:srgbClr val="C57C5C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84093A9-7FEA-792E-078D-5D9CFA026232}"/>
              </a:ext>
            </a:extLst>
          </p:cNvPr>
          <p:cNvSpPr txBox="1"/>
          <p:nvPr/>
        </p:nvSpPr>
        <p:spPr>
          <a:xfrm>
            <a:off x="4078478" y="4445869"/>
            <a:ext cx="26741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Train: [Jun 2021 → Dec 2023]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C58802-845B-B1FA-24D5-E603F23F46C2}"/>
              </a:ext>
            </a:extLst>
          </p:cNvPr>
          <p:cNvSpPr txBox="1"/>
          <p:nvPr/>
        </p:nvSpPr>
        <p:spPr>
          <a:xfrm>
            <a:off x="4211236" y="4905016"/>
            <a:ext cx="2557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Test: [Jan 2024 → Sep 2024]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4E9ECE0-F051-3D2A-9B1A-4809B66113A9}"/>
              </a:ext>
            </a:extLst>
          </p:cNvPr>
          <p:cNvCxnSpPr>
            <a:cxnSpLocks/>
            <a:stCxn id="6" idx="1"/>
            <a:endCxn id="20" idx="3"/>
          </p:cNvCxnSpPr>
          <p:nvPr/>
        </p:nvCxnSpPr>
        <p:spPr>
          <a:xfrm rot="10800000" flipV="1">
            <a:off x="6768700" y="4810123"/>
            <a:ext cx="541734" cy="264169"/>
          </a:xfrm>
          <a:prstGeom prst="bentConnector3">
            <a:avLst/>
          </a:prstGeom>
          <a:ln>
            <a:solidFill>
              <a:srgbClr val="C57C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9BF25CE-E345-37C3-5E71-C7262CDBEB3F}"/>
              </a:ext>
            </a:extLst>
          </p:cNvPr>
          <p:cNvCxnSpPr>
            <a:cxnSpLocks/>
            <a:stCxn id="6" idx="1"/>
            <a:endCxn id="19" idx="3"/>
          </p:cNvCxnSpPr>
          <p:nvPr/>
        </p:nvCxnSpPr>
        <p:spPr>
          <a:xfrm rot="10800000">
            <a:off x="6752626" y="4615146"/>
            <a:ext cx="557809" cy="194978"/>
          </a:xfrm>
          <a:prstGeom prst="bentConnector3">
            <a:avLst>
              <a:gd name="adj1" fmla="val 50000"/>
            </a:avLst>
          </a:prstGeom>
          <a:ln>
            <a:solidFill>
              <a:srgbClr val="C57C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AC6C2D0-07CE-C909-4A4F-7E2239B08955}"/>
              </a:ext>
            </a:extLst>
          </p:cNvPr>
          <p:cNvSpPr txBox="1"/>
          <p:nvPr/>
        </p:nvSpPr>
        <p:spPr>
          <a:xfrm>
            <a:off x="7091359" y="4019968"/>
            <a:ext cx="15716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defined by KPCL team</a:t>
            </a:r>
            <a:endParaRPr lang="en-I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85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505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dirty="0">
                <a:solidFill>
                  <a:srgbClr val="1B998B"/>
                </a:solidFill>
                <a:effectLst/>
              </a:rPr>
              <a:t> Feature Engineering (ML Models)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5" y="1750323"/>
            <a:ext cx="358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C57C5C"/>
                </a:solidFill>
                <a:effectLst/>
              </a:rPr>
              <a:t> Features Created for ML Models</a:t>
            </a:r>
            <a:endParaRPr lang="en-IN" dirty="0">
              <a:solidFill>
                <a:srgbClr val="C57C5C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45019C-A8A2-116F-D073-1B5186FCC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462036"/>
              </p:ext>
            </p:extLst>
          </p:nvPr>
        </p:nvGraphicFramePr>
        <p:xfrm>
          <a:off x="2600325" y="2909546"/>
          <a:ext cx="7000875" cy="1828800"/>
        </p:xfrm>
        <a:graphic>
          <a:graphicData uri="http://schemas.openxmlformats.org/drawingml/2006/table">
            <a:tbl>
              <a:tblPr/>
              <a:tblGrid>
                <a:gridCol w="2200275">
                  <a:extLst>
                    <a:ext uri="{9D8B030D-6E8A-4147-A177-3AD203B41FA5}">
                      <a16:colId xmlns:a16="http://schemas.microsoft.com/office/drawing/2014/main" val="493464725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238724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Feature Category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C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C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Features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0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E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568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</a:rPr>
                        <a:t>Lag Features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0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E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9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QTY at lag 1, 2, 3, 4, 8, 12 weeks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0E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E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447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</a:rPr>
                        <a:t>Rolling Mean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9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9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4-week rolling average, 12-week rolling average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0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295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</a:rPr>
                        <a:t>Rolling Std Dev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0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2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</a:rPr>
                        <a:t>4-week rolling standard deviation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00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0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0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3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7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</a:rPr>
                        <a:t>Temporal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2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3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2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Week-of-year, Month, Quarter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03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3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3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089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74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505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dirty="0">
                <a:solidFill>
                  <a:srgbClr val="1B998B"/>
                </a:solidFill>
                <a:effectLst/>
              </a:rPr>
              <a:t>Model Competition Framework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C57C5C"/>
                </a:solidFill>
                <a:effectLst/>
              </a:rPr>
              <a:t>Every Item Competes Across 3 Model Families</a:t>
            </a:r>
            <a:endParaRPr lang="en-IN" dirty="0">
              <a:solidFill>
                <a:srgbClr val="C57C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F098F-76BA-8166-0519-6544BEA70819}"/>
              </a:ext>
            </a:extLst>
          </p:cNvPr>
          <p:cNvSpPr txBox="1"/>
          <p:nvPr/>
        </p:nvSpPr>
        <p:spPr>
          <a:xfrm>
            <a:off x="2362200" y="2281339"/>
            <a:ext cx="60960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Classical ML</a:t>
            </a:r>
            <a:endParaRPr lang="en-I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XGBoost</a:t>
            </a:r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Random Forest</a:t>
            </a: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Ridge Regression</a:t>
            </a:r>
          </a:p>
          <a:p>
            <a:pPr algn="l"/>
            <a:r>
              <a:rPr lang="en-IN" sz="1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Time Series</a:t>
            </a:r>
            <a:endParaRPr lang="en-I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AR (</a:t>
            </a:r>
            <a:r>
              <a:rPr lang="en-IN"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AutoRegressive</a:t>
            </a: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)</a:t>
            </a: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MA (Moving Average)</a:t>
            </a: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ARMA</a:t>
            </a:r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ARIMA</a:t>
            </a:r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SARIMA</a:t>
            </a:r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Prophet (Facebook)</a:t>
            </a:r>
          </a:p>
          <a:p>
            <a:pPr algn="l"/>
            <a:r>
              <a:rPr lang="en-IN" sz="1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Auto</a:t>
            </a:r>
            <a:endParaRPr lang="en-I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Tx/>
              <a:buChar char="→"/>
            </a:pPr>
            <a:r>
              <a:rPr lang="en-IN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Auto-SARIMA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C5E64-A5F6-BA69-69B6-B40CD4BC98C3}"/>
              </a:ext>
            </a:extLst>
          </p:cNvPr>
          <p:cNvSpPr txBox="1"/>
          <p:nvPr/>
        </p:nvSpPr>
        <p:spPr>
          <a:xfrm>
            <a:off x="1082963" y="5828565"/>
            <a:ext cx="86544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All models evaluated on 12-week hold-out test set using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RMSE (Root Mean Squared Error)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Lowest RMSE =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Champion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for that item</a:t>
            </a:r>
          </a:p>
        </p:txBody>
      </p:sp>
    </p:spTree>
    <p:extLst>
      <p:ext uri="{BB962C8B-B14F-4D97-AF65-F5344CB8AC3E}">
        <p14:creationId xmlns:p14="http://schemas.microsoft.com/office/powerpoint/2010/main" val="371699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dirty="0">
                <a:solidFill>
                  <a:srgbClr val="1B998B"/>
                </a:solidFill>
                <a:effectLst/>
              </a:rPr>
              <a:t>Model Results (RMSE Comparison)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C57C5C"/>
                </a:solidFill>
                <a:effectLst/>
              </a:rPr>
              <a:t>Champion Model Selection Results</a:t>
            </a:r>
            <a:endParaRPr lang="en-IN" dirty="0">
              <a:solidFill>
                <a:srgbClr val="C57C5C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BBB268-5C58-3CA5-FC60-745FB19A1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477823"/>
              </p:ext>
            </p:extLst>
          </p:nvPr>
        </p:nvGraphicFramePr>
        <p:xfrm>
          <a:off x="1699491" y="2274838"/>
          <a:ext cx="7650018" cy="3291840"/>
        </p:xfrm>
        <a:graphic>
          <a:graphicData uri="http://schemas.openxmlformats.org/drawingml/2006/table">
            <a:tbl>
              <a:tblPr/>
              <a:tblGrid>
                <a:gridCol w="2752436">
                  <a:extLst>
                    <a:ext uri="{9D8B030D-6E8A-4147-A177-3AD203B41FA5}">
                      <a16:colId xmlns:a16="http://schemas.microsoft.com/office/drawing/2014/main" val="954781229"/>
                    </a:ext>
                  </a:extLst>
                </a:gridCol>
                <a:gridCol w="2059709">
                  <a:extLst>
                    <a:ext uri="{9D8B030D-6E8A-4147-A177-3AD203B41FA5}">
                      <a16:colId xmlns:a16="http://schemas.microsoft.com/office/drawing/2014/main" val="2837419236"/>
                    </a:ext>
                  </a:extLst>
                </a:gridCol>
                <a:gridCol w="1570182">
                  <a:extLst>
                    <a:ext uri="{9D8B030D-6E8A-4147-A177-3AD203B41FA5}">
                      <a16:colId xmlns:a16="http://schemas.microsoft.com/office/drawing/2014/main" val="1932570705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2561490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</a:rPr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6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61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6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7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Best ML Model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61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6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61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7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Best TS Model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06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7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7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Champion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07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7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8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24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Piston KC/KCX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7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7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7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XGBoost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07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7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7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7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8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7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AR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08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8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8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8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000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Bearing Bush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9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Random Forest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9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8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8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9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AR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08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8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8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9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745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Shaft Seal Assembly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9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9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9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Ridge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9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9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9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Prophet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09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9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9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Prophet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9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9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9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73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Cylinder Liner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2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2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XGBoost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AR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0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2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30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Gasket Suct Strainer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3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Ridge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AR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5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908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Advantage Oil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3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3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3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XGBoost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3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A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MA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5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A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MA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5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5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16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Gasket Set KC4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3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A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3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Ridge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0A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A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B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MA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A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MA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B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C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147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Liner Cylinder AC70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B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Random Forest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0B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B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MA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C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MA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C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C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6563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213C5B-E3AC-37EF-47EB-51318DFBEE5F}"/>
              </a:ext>
            </a:extLst>
          </p:cNvPr>
          <p:cNvSpPr txBox="1"/>
          <p:nvPr/>
        </p:nvSpPr>
        <p:spPr>
          <a:xfrm>
            <a:off x="818573" y="5923210"/>
            <a:ext cx="9411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Time Series models outperformed ML models on most items — </a:t>
            </a:r>
            <a:r>
              <a:rPr lang="en-US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AutoRegressive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(AR) was the most common winner, indicating strong autoregressive patterns in spare parts demand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963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2400" dirty="0">
                <a:solidFill>
                  <a:srgbClr val="1B998B"/>
                </a:solidFill>
                <a:effectLst/>
              </a:rPr>
              <a:t>MSTL Decomposition</a:t>
            </a:r>
            <a:endParaRPr lang="en-US" sz="2400" dirty="0">
              <a:solidFill>
                <a:srgbClr val="1B998B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800" dirty="0">
                <a:solidFill>
                  <a:srgbClr val="C57C5C"/>
                </a:solidFill>
                <a:effectLst/>
              </a:rPr>
              <a:t>Understanding Demand Structure with MSTL</a:t>
            </a:r>
            <a:endParaRPr lang="en-US" sz="1800" dirty="0">
              <a:solidFill>
                <a:srgbClr val="C57C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20019-89C4-689F-63B0-29B7821D4B00}"/>
              </a:ext>
            </a:extLst>
          </p:cNvPr>
          <p:cNvSpPr txBox="1"/>
          <p:nvPr/>
        </p:nvSpPr>
        <p:spPr>
          <a:xfrm>
            <a:off x="2761673" y="258520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What is MSTL?</a:t>
            </a:r>
          </a:p>
          <a:p>
            <a:pPr algn="l"/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MSTL = Multiple Seasonal-Trend decomposition using Loess</a:t>
            </a: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Decomposes a time series into 4 components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l"/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 Components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algn="l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Observed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— the actual weekly demand</a:t>
            </a: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Trend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— the long-term growth or decline</a:t>
            </a: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Seasonal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— repeating cyclic patterns (52-week period)</a:t>
            </a: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Residual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— unexplained noise / random variation</a:t>
            </a:r>
          </a:p>
        </p:txBody>
      </p:sp>
    </p:spTree>
    <p:extLst>
      <p:ext uri="{BB962C8B-B14F-4D97-AF65-F5344CB8AC3E}">
        <p14:creationId xmlns:p14="http://schemas.microsoft.com/office/powerpoint/2010/main" val="172961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64761E-9C24-8954-D44F-D45CE6865906}"/>
              </a:ext>
            </a:extLst>
          </p:cNvPr>
          <p:cNvSpPr txBox="1"/>
          <p:nvPr/>
        </p:nvSpPr>
        <p:spPr>
          <a:xfrm>
            <a:off x="1757845" y="6093880"/>
            <a:ext cx="83810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Key Finding:</a:t>
            </a: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</a:t>
            </a:r>
          </a:p>
          <a:p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Most items show a clear </a:t>
            </a:r>
            <a:r>
              <a:rPr lang="en-US" sz="1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declining trend</a:t>
            </a: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with </a:t>
            </a:r>
            <a:r>
              <a:rPr lang="en-US" sz="1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seasonal spikes</a:t>
            </a: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around mid-year  likely corresponding to monsoon maintenance season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AD0471-8A6B-2B62-BA14-C96C630A2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57" y="207262"/>
            <a:ext cx="9945633" cy="5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5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i="0" dirty="0">
                <a:solidFill>
                  <a:srgbClr val="1B998B"/>
                </a:solidFill>
                <a:effectLst/>
              </a:rPr>
              <a:t>Web Application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57C5C"/>
                </a:solidFill>
                <a:effectLst/>
              </a:rPr>
              <a:t>Live Forecasting Dashboard</a:t>
            </a:r>
            <a:endParaRPr lang="en-IN" dirty="0">
              <a:solidFill>
                <a:srgbClr val="C57C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5E719-DCCC-0756-422E-D9AB1E2A7C80}"/>
              </a:ext>
            </a:extLst>
          </p:cNvPr>
          <p:cNvSpPr txBox="1"/>
          <p:nvPr/>
        </p:nvSpPr>
        <p:spPr>
          <a:xfrm>
            <a:off x="1914524" y="2514984"/>
            <a:ext cx="82105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4 Tabs (horizontal cards):</a:t>
            </a: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WPC"/>
            </a:endParaRPr>
          </a:p>
          <a:p>
            <a:pPr algn="l"/>
            <a:endParaRPr lang="en-IN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WPC"/>
            </a:endParaRPr>
          </a:p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Home</a:t>
            </a: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 Embedded Kirloskar Analytics Dashboard — regional sales, transporter analysis, year-wise revenue &amp; QTY trends</a:t>
            </a:r>
          </a:p>
          <a:p>
            <a:pPr algn="l"/>
            <a:endParaRPr lang="en-IN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WPC"/>
            </a:endParaRPr>
          </a:p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Analysis</a:t>
            </a: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 Interactive MSTL decomposition — select any item, see Trend + Seasonal + Residual in real time via Recharts</a:t>
            </a:r>
          </a:p>
          <a:p>
            <a:pPr algn="l"/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Segoe WPC"/>
            </a:endParaRPr>
          </a:p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Forecasting</a:t>
            </a: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 Compare ML vs Time Series vs Champion model — interactive plot with confidence intervals and 12-week forecast</a:t>
            </a:r>
          </a:p>
          <a:p>
            <a:pPr algn="l"/>
            <a:endParaRPr lang="en-IN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WPC"/>
            </a:endParaRPr>
          </a:p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About</a:t>
            </a: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 Dataset documentation, methodology, champion model table, feature engineering details</a:t>
            </a:r>
          </a:p>
        </p:txBody>
      </p:sp>
    </p:spTree>
    <p:extLst>
      <p:ext uri="{BB962C8B-B14F-4D97-AF65-F5344CB8AC3E}">
        <p14:creationId xmlns:p14="http://schemas.microsoft.com/office/powerpoint/2010/main" val="479579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E46269-7058-ECA9-5F32-D36F33A17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709" y="1282831"/>
            <a:ext cx="7414037" cy="4292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BFEF5-D442-3230-1A94-77A6B8D4B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77" y="2343150"/>
            <a:ext cx="1913908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3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B9C4B3-782D-A3A9-D922-EB7CA4221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687" y="3590334"/>
            <a:ext cx="5960656" cy="3216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71D5AB-CB72-A1BF-1EC4-7D1158016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1" y="131585"/>
            <a:ext cx="6096000" cy="329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71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IN" sz="2400" b="1" dirty="0">
                <a:solidFill>
                  <a:srgbClr val="1B998B"/>
                </a:solidFill>
                <a:effectLst/>
              </a:rPr>
              <a:t>Technology Stack</a:t>
            </a:r>
            <a:endParaRPr lang="en-IN" sz="2400" b="1" dirty="0">
              <a:solidFill>
                <a:srgbClr val="1B998B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1800" dirty="0">
                <a:solidFill>
                  <a:srgbClr val="C57C5C"/>
                </a:solidFill>
                <a:effectLst/>
              </a:rPr>
              <a:t>Tech Stack</a:t>
            </a:r>
            <a:endParaRPr lang="en-IN" sz="1800" dirty="0">
              <a:solidFill>
                <a:srgbClr val="C57C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D93F66-F2AE-2AF5-225F-EC40CA42A60A}"/>
              </a:ext>
            </a:extLst>
          </p:cNvPr>
          <p:cNvSpPr txBox="1"/>
          <p:nvPr/>
        </p:nvSpPr>
        <p:spPr>
          <a:xfrm>
            <a:off x="2065047" y="2274838"/>
            <a:ext cx="89382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Backend:</a:t>
            </a: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FastAPI</a:t>
            </a: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(REST API — Python)</a:t>
            </a: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Dash + </a:t>
            </a:r>
            <a:r>
              <a:rPr lang="en-IN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Plotly</a:t>
            </a: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(Analytics Dashboard)</a:t>
            </a: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statsmodels</a:t>
            </a: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Prophet, scikit-learn (ML/TS models)</a:t>
            </a: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pandas, </a:t>
            </a:r>
            <a:r>
              <a:rPr lang="en-IN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numpy</a:t>
            </a: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(Data processing)</a:t>
            </a:r>
          </a:p>
          <a:p>
            <a:pPr algn="l"/>
            <a:endParaRPr lang="en-IN" b="1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Frontend:</a:t>
            </a: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React 18 + </a:t>
            </a:r>
            <a:r>
              <a:rPr lang="en-IN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Vite</a:t>
            </a: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Recharts (Interactive charts)</a:t>
            </a: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Tailwind-compatible CSS</a:t>
            </a:r>
          </a:p>
          <a:p>
            <a:pPr algn="l"/>
            <a:endParaRPr lang="en-IN" b="1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Deployment:</a:t>
            </a: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Railway (cloud hosting — single service monolith)</a:t>
            </a:r>
          </a:p>
          <a:p>
            <a:pPr marL="742950" lvl="1" indent="-285750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GitHub (version control + auto-deploy)</a:t>
            </a:r>
          </a:p>
        </p:txBody>
      </p:sp>
    </p:spTree>
    <p:extLst>
      <p:ext uri="{BB962C8B-B14F-4D97-AF65-F5344CB8AC3E}">
        <p14:creationId xmlns:p14="http://schemas.microsoft.com/office/powerpoint/2010/main" val="3311987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2400" b="1" dirty="0">
                <a:solidFill>
                  <a:srgbClr val="1B998B"/>
                </a:solidFill>
                <a:effectLst/>
              </a:rPr>
              <a:t>System Architecture</a:t>
            </a:r>
            <a:endParaRPr lang="en-US" sz="2400" b="1" dirty="0">
              <a:solidFill>
                <a:srgbClr val="1B998B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800" dirty="0">
                <a:solidFill>
                  <a:srgbClr val="C57C5C"/>
                </a:solidFill>
                <a:effectLst/>
              </a:rPr>
              <a:t>How It All Connects</a:t>
            </a:r>
            <a:endParaRPr lang="en-US" sz="1800" dirty="0">
              <a:solidFill>
                <a:srgbClr val="C57C5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75FA8-7598-03F1-917C-E980C0CCA2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63"/>
          <a:stretch/>
        </p:blipFill>
        <p:spPr>
          <a:xfrm>
            <a:off x="2726583" y="2238478"/>
            <a:ext cx="7615132" cy="45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19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i="0" dirty="0">
                <a:solidFill>
                  <a:srgbClr val="1B998B"/>
                </a:solidFill>
                <a:effectLst/>
              </a:rPr>
              <a:t>Key Outputs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57C5C"/>
                </a:solidFill>
                <a:effectLst/>
              </a:rPr>
              <a:t>What the System Delivers</a:t>
            </a:r>
            <a:endParaRPr lang="en-IN" dirty="0">
              <a:solidFill>
                <a:srgbClr val="C57C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003F6-942B-9FBA-AA22-4AE28E22339A}"/>
              </a:ext>
            </a:extLst>
          </p:cNvPr>
          <p:cNvSpPr txBox="1"/>
          <p:nvPr/>
        </p:nvSpPr>
        <p:spPr>
          <a:xfrm>
            <a:off x="1938048" y="2430022"/>
            <a:ext cx="83159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Output 1 — 12-Week Ahead Forecasts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For each of 8 items: weekly quantity forecast with confidence intervals</a:t>
            </a:r>
          </a:p>
          <a:p>
            <a:pPr algn="l"/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Output 2 — Model Comparison Report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RMSE table across all model families → identifies best model per item</a:t>
            </a:r>
          </a:p>
          <a:p>
            <a:pPr algn="l"/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Output 3 — Demand Decomposition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MSTL analysis reveals hidden trends and seasonal cycles</a:t>
            </a:r>
          </a:p>
          <a:p>
            <a:pPr algn="l"/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Output 4 — Live Web App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Operations team can access forecasts anytime, anywhere via the web: 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web-production-4bd43.up.railway.app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20811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i="0" dirty="0">
                <a:solidFill>
                  <a:srgbClr val="1B998B"/>
                </a:solidFill>
                <a:effectLst/>
              </a:rPr>
              <a:t>Key Findings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57C5C"/>
                </a:solidFill>
                <a:effectLst/>
              </a:rPr>
              <a:t>Insights from the Data</a:t>
            </a:r>
            <a:endParaRPr lang="en-IN" dirty="0">
              <a:solidFill>
                <a:srgbClr val="C57C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F18A6-6047-94C7-5456-8CB6736DB879}"/>
              </a:ext>
            </a:extLst>
          </p:cNvPr>
          <p:cNvSpPr txBox="1"/>
          <p:nvPr/>
        </p:nvSpPr>
        <p:spPr>
          <a:xfrm>
            <a:off x="2105890" y="2334906"/>
            <a:ext cx="84605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Demand is autoregressive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— last week's demand is the strongest predictor of next week's demand (AR wins on 5/8 items)</a:t>
            </a: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Seasonal peaks exist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— MSTL shows recurring spikes, suggesting maintenance scheduling patterns</a:t>
            </a: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Trend is declining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for most high-volume items — potential saturation of existing installed base</a:t>
            </a: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Prophet excels on irregular patterns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— outperforms on Shaft Seal Assembly which has sporadic bulk orders</a:t>
            </a:r>
          </a:p>
          <a:p>
            <a:pPr marL="285750" indent="-285750" algn="l">
              <a:buClr>
                <a:srgbClr val="1B998B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ML models underperform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on sparse items (&lt; 300 rows) — insufficient data for lag features to be meaningful; simple MA wins</a:t>
            </a:r>
          </a:p>
        </p:txBody>
      </p:sp>
    </p:spTree>
    <p:extLst>
      <p:ext uri="{BB962C8B-B14F-4D97-AF65-F5344CB8AC3E}">
        <p14:creationId xmlns:p14="http://schemas.microsoft.com/office/powerpoint/2010/main" val="2331461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46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i="0" dirty="0">
                <a:solidFill>
                  <a:srgbClr val="1B998B"/>
                </a:solidFill>
                <a:effectLst/>
              </a:rPr>
              <a:t>Challenges &amp; Solutions</a:t>
            </a:r>
            <a:r>
              <a:rPr lang="en-US" sz="2400" b="0" i="0" dirty="0">
                <a:solidFill>
                  <a:srgbClr val="1B998B"/>
                </a:solidFill>
                <a:effectLst/>
              </a:rPr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57C5C"/>
                </a:solidFill>
                <a:effectLst/>
              </a:rPr>
              <a:t>Technical Challenges Faced</a:t>
            </a:r>
            <a:endParaRPr lang="en-IN" dirty="0">
              <a:solidFill>
                <a:srgbClr val="C57C5C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1F27B6-641C-896D-351C-F2DB5C14E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204943"/>
              </p:ext>
            </p:extLst>
          </p:nvPr>
        </p:nvGraphicFramePr>
        <p:xfrm>
          <a:off x="838200" y="2492534"/>
          <a:ext cx="10515600" cy="30175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025012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70820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Challenge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1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Solution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42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Sparse time series (27 rows for one item)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7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Adaptive MSTL period selection; fallback to smaller period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62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Missing weeks causing decomposition failure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47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7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4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Zero-fill reindex before MSTL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4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6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395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Serving Dash + React + FastAPI from one host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4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6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4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6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FastAPI WSGIMiddleware + StaticFiles mount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06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6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6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6F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85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Cross-origin iframe issue in local dev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6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6F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6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Vite proxy routes /analytics/ → Dash port 8050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6F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F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6F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8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809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Render ignoring Python version → builds fail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06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8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dirty="0">
                          <a:effectLst/>
                        </a:rPr>
                        <a:t>Added </a:t>
                      </a:r>
                      <a:endParaRPr lang="en-IN" b="0" dirty="0">
                        <a:effectLst/>
                      </a:endParaRPr>
                    </a:p>
                    <a:p>
                      <a:pPr fontAlgn="ctr"/>
                      <a:r>
                        <a:rPr lang="en-IN" b="0" dirty="0">
                          <a:effectLst/>
                        </a:rPr>
                        <a:t>.python-version</a:t>
                      </a:r>
                      <a:r>
                        <a:rPr lang="en-IN" dirty="0">
                          <a:effectLst/>
                        </a:rPr>
                        <a:t> + </a:t>
                      </a:r>
                      <a:endParaRPr lang="en-IN" b="0" dirty="0">
                        <a:effectLst/>
                      </a:endParaRPr>
                    </a:p>
                    <a:p>
                      <a:r>
                        <a:rPr lang="en-IN" b="0" dirty="0">
                          <a:effectLst/>
                        </a:rPr>
                        <a:t>runtime.txt</a:t>
                      </a:r>
                      <a:r>
                        <a:rPr lang="en-IN" dirty="0">
                          <a:effectLst/>
                        </a:rPr>
                        <a:t> pinning Python 3.11.9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8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8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8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8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317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892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075" y="119437"/>
            <a:ext cx="1972407" cy="394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331F7-6D57-AD38-0A0C-72E4352C126A}"/>
              </a:ext>
            </a:extLst>
          </p:cNvPr>
          <p:cNvSpPr txBox="1"/>
          <p:nvPr/>
        </p:nvSpPr>
        <p:spPr>
          <a:xfrm>
            <a:off x="904875" y="1133475"/>
            <a:ext cx="363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i="0" dirty="0">
                <a:solidFill>
                  <a:srgbClr val="1B998B"/>
                </a:solidFill>
                <a:effectLst/>
              </a:rPr>
              <a:t>Conclusion &amp; Future Work</a:t>
            </a:r>
            <a:endParaRPr lang="en-US" sz="2400" b="0" i="0" dirty="0">
              <a:solidFill>
                <a:srgbClr val="1B998B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20A38-C1EB-AE65-D85F-E1BD7B6E67D1}"/>
              </a:ext>
            </a:extLst>
          </p:cNvPr>
          <p:cNvSpPr txBox="1"/>
          <p:nvPr/>
        </p:nvSpPr>
        <p:spPr>
          <a:xfrm>
            <a:off x="1914524" y="1750323"/>
            <a:ext cx="461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57C5C"/>
                </a:solidFill>
                <a:effectLst/>
              </a:rPr>
              <a:t>Summary &amp; Next Steps</a:t>
            </a:r>
            <a:endParaRPr lang="en-IN" dirty="0">
              <a:solidFill>
                <a:srgbClr val="C57C5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213C5B-E3AC-37EF-47EB-51318DFBEE5F}"/>
              </a:ext>
            </a:extLst>
          </p:cNvPr>
          <p:cNvSpPr txBox="1"/>
          <p:nvPr/>
        </p:nvSpPr>
        <p:spPr>
          <a:xfrm>
            <a:off x="1914524" y="2413391"/>
            <a:ext cx="94118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What was achieved </a:t>
            </a: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End-to-end ML + Time Series forecasting pipeline for 8 SKUs</a:t>
            </a: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Automated Champion model selection by RMSE</a:t>
            </a: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Live interactive web dashboard deployed on Railway</a:t>
            </a: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MSTL demand decomposition for strategic planning</a:t>
            </a: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algn="l"/>
            <a:r>
              <a:rPr lang="en-I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Future Enhancements </a:t>
            </a:r>
            <a:endParaRPr lang="en-IN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Add more items (scale to full catalogue)</a:t>
            </a: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Incorporate external signals (seasons, holidays, rainfall patterns)</a:t>
            </a: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Real-time data sync from ERP/SAP system</a:t>
            </a: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Automated retraining when new data arrives</a:t>
            </a:r>
          </a:p>
          <a:p>
            <a:pPr marL="742950" lvl="1" indent="-285750">
              <a:buClr>
                <a:srgbClr val="1B998B"/>
              </a:buClr>
              <a:buFont typeface="Calibri" panose="020F0502020204030204" pitchFamily="34" charset="0"/>
              <a:buChar char="→"/>
            </a:pPr>
            <a:r>
              <a:rPr lang="en-I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Email/WhatsApp alerts when forecast deviates significantly from plan</a:t>
            </a:r>
          </a:p>
        </p:txBody>
      </p:sp>
    </p:spTree>
    <p:extLst>
      <p:ext uri="{BB962C8B-B14F-4D97-AF65-F5344CB8AC3E}">
        <p14:creationId xmlns:p14="http://schemas.microsoft.com/office/powerpoint/2010/main" val="3730915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998B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s on a white background&#10;&#10;Description automatically generated">
            <a:extLst>
              <a:ext uri="{FF2B5EF4-FFF2-40B4-BE49-F238E27FC236}">
                <a16:creationId xmlns:a16="http://schemas.microsoft.com/office/drawing/2014/main" id="{2DB95D01-1D8A-1BD9-B4E2-75D0D1C67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9187"/>
            <a:ext cx="11924950" cy="2387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F14375-41D7-1015-F2E7-99783CFE9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475" y="2849585"/>
            <a:ext cx="9144000" cy="1158829"/>
          </a:xfrm>
        </p:spPr>
        <p:txBody>
          <a:bodyPr>
            <a:normAutofit/>
          </a:bodyPr>
          <a:lstStyle/>
          <a:p>
            <a:r>
              <a:rPr lang="en-IN" sz="72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THANKYOU!!!</a:t>
            </a:r>
            <a:endParaRPr lang="en-IN" sz="7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9E5A7-8970-5A5D-87F4-23F91503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9379"/>
            <a:ext cx="9144000" cy="798512"/>
          </a:xfrm>
        </p:spPr>
        <p:txBody>
          <a:bodyPr>
            <a:normAutofit/>
          </a:bodyPr>
          <a:lstStyle/>
          <a:p>
            <a:r>
              <a:rPr lang="en-IN" sz="18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Live App: https://demand-forecasting-for-spare-parts.vercel.app/</a:t>
            </a:r>
          </a:p>
          <a:p>
            <a:r>
              <a:rPr lang="en-IN" sz="18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GitHub: github.com/</a:t>
            </a:r>
            <a:r>
              <a:rPr lang="en-IN" sz="180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adeebanoorr</a:t>
            </a:r>
            <a:r>
              <a:rPr lang="en-IN" sz="18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/Demand-Forecasting-for-spare-parts</a:t>
            </a:r>
          </a:p>
        </p:txBody>
      </p:sp>
    </p:spTree>
    <p:extLst>
      <p:ext uri="{BB962C8B-B14F-4D97-AF65-F5344CB8AC3E}">
        <p14:creationId xmlns:p14="http://schemas.microsoft.com/office/powerpoint/2010/main" val="11460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1157</Words>
  <Application>Microsoft Office PowerPoint</Application>
  <PresentationFormat>Widescreen</PresentationFormat>
  <Paragraphs>255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Segoe WPC</vt:lpstr>
      <vt:lpstr>Wingdings</vt:lpstr>
      <vt:lpstr>Office Theme</vt:lpstr>
      <vt:lpstr>SPARE PARTS DEMAND FORECASTING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DEMAND FORECASTING</dc:title>
  <dc:creator>Adeeba Noor</dc:creator>
  <cp:lastModifiedBy>Adeeba Noor</cp:lastModifiedBy>
  <cp:revision>5</cp:revision>
  <dcterms:created xsi:type="dcterms:W3CDTF">2026-03-11T05:03:18Z</dcterms:created>
  <dcterms:modified xsi:type="dcterms:W3CDTF">2026-03-24T06:52:56Z</dcterms:modified>
</cp:coreProperties>
</file>